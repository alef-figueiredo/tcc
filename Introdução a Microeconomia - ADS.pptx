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3"/>
  </p:notesMasterIdLst>
  <p:handoutMasterIdLst>
    <p:handoutMasterId r:id="rId44"/>
  </p:handoutMasterIdLst>
  <p:sldIdLst>
    <p:sldId id="256" r:id="rId5"/>
    <p:sldId id="309" r:id="rId6"/>
    <p:sldId id="853" r:id="rId7"/>
    <p:sldId id="850" r:id="rId8"/>
    <p:sldId id="860" r:id="rId9"/>
    <p:sldId id="861" r:id="rId10"/>
    <p:sldId id="862" r:id="rId11"/>
    <p:sldId id="289" r:id="rId12"/>
    <p:sldId id="288" r:id="rId13"/>
    <p:sldId id="287" r:id="rId14"/>
    <p:sldId id="267" r:id="rId15"/>
    <p:sldId id="282" r:id="rId16"/>
    <p:sldId id="283" r:id="rId17"/>
    <p:sldId id="284" r:id="rId18"/>
    <p:sldId id="285" r:id="rId19"/>
    <p:sldId id="286" r:id="rId20"/>
    <p:sldId id="292" r:id="rId21"/>
    <p:sldId id="290" r:id="rId22"/>
    <p:sldId id="291" r:id="rId23"/>
    <p:sldId id="302" r:id="rId24"/>
    <p:sldId id="301" r:id="rId25"/>
    <p:sldId id="293" r:id="rId26"/>
    <p:sldId id="294" r:id="rId27"/>
    <p:sldId id="295" r:id="rId28"/>
    <p:sldId id="296" r:id="rId29"/>
    <p:sldId id="297" r:id="rId30"/>
    <p:sldId id="298" r:id="rId31"/>
    <p:sldId id="299" r:id="rId32"/>
    <p:sldId id="300" r:id="rId33"/>
    <p:sldId id="303" r:id="rId34"/>
    <p:sldId id="304" r:id="rId35"/>
    <p:sldId id="305" r:id="rId36"/>
    <p:sldId id="306" r:id="rId37"/>
    <p:sldId id="307" r:id="rId38"/>
    <p:sldId id="308" r:id="rId39"/>
    <p:sldId id="863" r:id="rId40"/>
    <p:sldId id="864" r:id="rId41"/>
    <p:sldId id="279" r:id="rId4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4588" autoAdjust="0"/>
  </p:normalViewPr>
  <p:slideViewPr>
    <p:cSldViewPr>
      <p:cViewPr varScale="1">
        <p:scale>
          <a:sx n="51" d="100"/>
          <a:sy n="51" d="100"/>
        </p:scale>
        <p:origin x="1980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pt-BR"/>
              <a:t>09/08/2019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37133D-7008-43C8-8E35-5EEDD7AC30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67725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pt-BR"/>
              <a:t>09/08/2019</a:t>
            </a:r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9DA814-BF01-4D46-AFD4-21E356DD5E95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27738649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OK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DA814-BF01-4D46-AFD4-21E356DD5E95}" type="slidenum">
              <a:rPr lang="pt-BR" smtClean="0"/>
              <a:pPr/>
              <a:t>1</a:t>
            </a:fld>
            <a:endParaRPr lang="pt-BR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pt-BR"/>
              <a:t>09/08/2019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376893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OK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DA814-BF01-4D46-AFD4-21E356DD5E95}" type="slidenum">
              <a:rPr lang="pt-BR" smtClean="0"/>
              <a:pPr/>
              <a:t>2</a:t>
            </a:fld>
            <a:endParaRPr lang="pt-BR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pt-BR"/>
              <a:t>09/08/2019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32275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6FD3EA39-C2E5-4137-8AE0-03C090D12F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92188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2188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2188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2188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2188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9921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9921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9921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9921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9A9E2C0-9B4F-4F11-AB0B-21692C751D1D}" type="slidenum">
              <a:rPr lang="en-US" altLang="pt-BR" sz="1300"/>
              <a:pPr eaLnBrk="1" hangingPunct="1"/>
              <a:t>3</a:t>
            </a:fld>
            <a:endParaRPr lang="en-US" altLang="pt-BR" sz="1300"/>
          </a:p>
        </p:txBody>
      </p:sp>
      <p:sp>
        <p:nvSpPr>
          <p:cNvPr id="197635" name="Rectangle 2">
            <a:extLst>
              <a:ext uri="{FF2B5EF4-FFF2-40B4-BE49-F238E27FC236}">
                <a16:creationId xmlns:a16="http://schemas.microsoft.com/office/drawing/2014/main" id="{205288A8-2C02-4D47-8231-931C6E284F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7636" name="Rectangle 3">
            <a:extLst>
              <a:ext uri="{FF2B5EF4-FFF2-40B4-BE49-F238E27FC236}">
                <a16:creationId xmlns:a16="http://schemas.microsoft.com/office/drawing/2014/main" id="{5475FFE0-8C45-46D8-8347-B2F3F00B11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pt-BR" altLang="pt-BR" sz="2800"/>
              <a:t>Cada ciência observa e analisa a realidade do aspecto </a:t>
            </a:r>
          </a:p>
          <a:p>
            <a:pPr eaLnBrk="1" hangingPunct="1">
              <a:spcBef>
                <a:spcPct val="50000"/>
              </a:spcBef>
            </a:pPr>
            <a:r>
              <a:rPr lang="pt-BR" altLang="pt-BR" sz="2800"/>
              <a:t>material do seu objeto, segundo sua própria lógica formal.</a:t>
            </a:r>
          </a:p>
          <a:p>
            <a:pPr eaLnBrk="1" hangingPunct="1"/>
            <a:endParaRPr lang="en-US" alt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OK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DA814-BF01-4D46-AFD4-21E356DD5E95}" type="slidenum">
              <a:rPr lang="pt-BR" smtClean="0"/>
              <a:pPr/>
              <a:t>8</a:t>
            </a:fld>
            <a:endParaRPr lang="pt-BR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pt-BR"/>
              <a:t>09/08/2019</a:t>
            </a:r>
            <a:endParaRPr lang="pt-BR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Comentar novamente a diferença entre microeconomia e macroeconomia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DA814-BF01-4D46-AFD4-21E356DD5E95}" type="slidenum">
              <a:rPr lang="pt-BR" smtClean="0"/>
              <a:pPr/>
              <a:t>9</a:t>
            </a:fld>
            <a:endParaRPr lang="pt-BR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pt-BR"/>
              <a:t>09/08/2019</a:t>
            </a:r>
            <a:endParaRPr lang="pt-BR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Comentar novamente a diferença entre microeconomia e macroeconomia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DA814-BF01-4D46-AFD4-21E356DD5E95}" type="slidenum">
              <a:rPr lang="pt-BR" smtClean="0"/>
              <a:pPr/>
              <a:t>10</a:t>
            </a:fld>
            <a:endParaRPr lang="pt-BR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pt-BR"/>
              <a:t>09/08/2019</a:t>
            </a:r>
            <a:endParaRPr lang="pt-BR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Comentar novamente a diferença entre microeconomia e macroeconomia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DA814-BF01-4D46-AFD4-21E356DD5E95}" type="slidenum">
              <a:rPr lang="pt-BR" smtClean="0"/>
              <a:pPr/>
              <a:t>11</a:t>
            </a:fld>
            <a:endParaRPr lang="pt-BR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pt-BR"/>
              <a:t>09/08/2019</a:t>
            </a:r>
            <a:endParaRPr lang="pt-BR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DA814-BF01-4D46-AFD4-21E356DD5E95}" type="slidenum">
              <a:rPr lang="pt-BR" smtClean="0"/>
              <a:pPr/>
              <a:t>12</a:t>
            </a:fld>
            <a:endParaRPr lang="pt-BR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pt-BR"/>
              <a:t>09/08/2019</a:t>
            </a:r>
            <a:endParaRPr lang="pt-BR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Características</a:t>
            </a:r>
            <a:r>
              <a:rPr lang="pt-BR" baseline="0" dirty="0"/>
              <a:t> do mercado de concorrência perfeita: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DA814-BF01-4D46-AFD4-21E356DD5E95}" type="slidenum">
              <a:rPr lang="pt-BR" smtClean="0"/>
              <a:pPr/>
              <a:t>13</a:t>
            </a:fld>
            <a:endParaRPr lang="pt-BR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pt-BR"/>
              <a:t>09/08/2019</a:t>
            </a:r>
            <a:endParaRPr lang="pt-BR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baseline="0" dirty="0"/>
              <a:t>Criar um exemplo para esse slide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DA814-BF01-4D46-AFD4-21E356DD5E95}" type="slidenum">
              <a:rPr lang="pt-BR" smtClean="0"/>
              <a:pPr/>
              <a:t>14</a:t>
            </a:fld>
            <a:endParaRPr lang="pt-BR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pt-BR"/>
              <a:t>09/08/2019</a:t>
            </a:r>
            <a:endParaRPr lang="pt-BR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baseline="0" dirty="0"/>
              <a:t>Criar um exemplo para esse slide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DA814-BF01-4D46-AFD4-21E356DD5E95}" type="slidenum">
              <a:rPr lang="pt-BR" smtClean="0"/>
              <a:pPr/>
              <a:t>15</a:t>
            </a:fld>
            <a:endParaRPr lang="pt-BR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pt-BR"/>
              <a:t>09/08/2019</a:t>
            </a:r>
            <a:endParaRPr lang="pt-BR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Talvez</a:t>
            </a:r>
            <a:r>
              <a:rPr lang="pt-BR" baseline="0" dirty="0"/>
              <a:t> seja necessário incluir o conceito de “marginal”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DA814-BF01-4D46-AFD4-21E356DD5E95}" type="slidenum">
              <a:rPr lang="pt-BR" smtClean="0"/>
              <a:pPr/>
              <a:t>16</a:t>
            </a:fld>
            <a:endParaRPr lang="pt-BR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pt-BR"/>
              <a:t>09/08/2019</a:t>
            </a:r>
            <a:endParaRPr lang="pt-BR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Talvez</a:t>
            </a:r>
            <a:r>
              <a:rPr lang="pt-BR" baseline="0" dirty="0"/>
              <a:t> seja necessário incluir o conceito de “marginal”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DA814-BF01-4D46-AFD4-21E356DD5E95}" type="slidenum">
              <a:rPr lang="pt-BR" smtClean="0"/>
              <a:pPr/>
              <a:t>17</a:t>
            </a:fld>
            <a:endParaRPr lang="pt-BR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pt-BR"/>
              <a:t>09/08/2019</a:t>
            </a:r>
            <a:endParaRPr lang="pt-BR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Talvez</a:t>
            </a:r>
            <a:r>
              <a:rPr lang="pt-BR" baseline="0" dirty="0"/>
              <a:t> seja necessário incluir o conceito de “marginal”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DA814-BF01-4D46-AFD4-21E356DD5E95}" type="slidenum">
              <a:rPr lang="pt-BR" smtClean="0"/>
              <a:pPr/>
              <a:t>18</a:t>
            </a:fld>
            <a:endParaRPr lang="pt-BR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pt-BR"/>
              <a:t>09/08/2019</a:t>
            </a:r>
            <a:endParaRPr lang="pt-BR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Talvez</a:t>
            </a:r>
            <a:r>
              <a:rPr lang="pt-BR" baseline="0" dirty="0"/>
              <a:t> seja necessário incluir o conceito de “marginal”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DA814-BF01-4D46-AFD4-21E356DD5E95}" type="slidenum">
              <a:rPr lang="pt-BR" smtClean="0"/>
              <a:pPr/>
              <a:t>19</a:t>
            </a:fld>
            <a:endParaRPr lang="pt-BR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pt-BR"/>
              <a:t>09/08/2019</a:t>
            </a:r>
            <a:endParaRPr lang="pt-BR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DA814-BF01-4D46-AFD4-21E356DD5E95}" type="slidenum">
              <a:rPr lang="pt-BR" smtClean="0"/>
              <a:pPr/>
              <a:t>20</a:t>
            </a:fld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pt-BR"/>
              <a:t>09/08/2019</a:t>
            </a:r>
            <a:endParaRPr lang="pt-BR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DA814-BF01-4D46-AFD4-21E356DD5E95}" type="slidenum">
              <a:rPr lang="pt-BR" smtClean="0"/>
              <a:pPr/>
              <a:t>21</a:t>
            </a:fld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pt-BR"/>
              <a:t>09/08/2019</a:t>
            </a:r>
            <a:endParaRPr lang="pt-BR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Talvez</a:t>
            </a:r>
            <a:r>
              <a:rPr lang="pt-BR" baseline="0" dirty="0"/>
              <a:t> seja necessário incluir o conceito de “marginal”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DA814-BF01-4D46-AFD4-21E356DD5E95}" type="slidenum">
              <a:rPr lang="pt-BR" smtClean="0"/>
              <a:pPr/>
              <a:t>22</a:t>
            </a:fld>
            <a:endParaRPr lang="pt-BR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pt-BR"/>
              <a:t>09/08/2019</a:t>
            </a:r>
            <a:endParaRPr lang="pt-BR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Talvez</a:t>
            </a:r>
            <a:r>
              <a:rPr lang="pt-BR" baseline="0" dirty="0"/>
              <a:t> seja necessário incluir o conceito de “marginal”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DA814-BF01-4D46-AFD4-21E356DD5E95}" type="slidenum">
              <a:rPr lang="pt-BR" smtClean="0"/>
              <a:pPr/>
              <a:t>23</a:t>
            </a:fld>
            <a:endParaRPr lang="pt-BR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pt-BR"/>
              <a:t>09/08/2019</a:t>
            </a:r>
            <a:endParaRPr lang="pt-BR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Talvez</a:t>
            </a:r>
            <a:r>
              <a:rPr lang="pt-BR" baseline="0" dirty="0"/>
              <a:t> seja necessário incluir o conceito de “marginal”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DA814-BF01-4D46-AFD4-21E356DD5E95}" type="slidenum">
              <a:rPr lang="pt-BR" smtClean="0"/>
              <a:pPr/>
              <a:t>24</a:t>
            </a:fld>
            <a:endParaRPr lang="pt-BR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pt-BR"/>
              <a:t>09/08/2019</a:t>
            </a:r>
            <a:endParaRPr lang="pt-BR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Talvez</a:t>
            </a:r>
            <a:r>
              <a:rPr lang="pt-BR" baseline="0" dirty="0"/>
              <a:t> seja necessário incluir o conceito de “marginal”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DA814-BF01-4D46-AFD4-21E356DD5E95}" type="slidenum">
              <a:rPr lang="pt-BR" smtClean="0"/>
              <a:pPr/>
              <a:t>25</a:t>
            </a:fld>
            <a:endParaRPr lang="pt-BR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pt-BR"/>
              <a:t>09/08/2019</a:t>
            </a:r>
            <a:endParaRPr lang="pt-BR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DA814-BF01-4D46-AFD4-21E356DD5E95}" type="slidenum">
              <a:rPr lang="pt-BR" smtClean="0"/>
              <a:pPr/>
              <a:t>26</a:t>
            </a:fld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pt-BR"/>
              <a:t>09/08/2019</a:t>
            </a:r>
            <a:endParaRPr lang="pt-BR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DA814-BF01-4D46-AFD4-21E356DD5E95}" type="slidenum">
              <a:rPr lang="pt-BR" smtClean="0"/>
              <a:pPr/>
              <a:t>27</a:t>
            </a:fld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pt-BR"/>
              <a:t>09/08/2019</a:t>
            </a:r>
            <a:endParaRPr lang="pt-BR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DA814-BF01-4D46-AFD4-21E356DD5E95}" type="slidenum">
              <a:rPr lang="pt-BR" smtClean="0"/>
              <a:pPr/>
              <a:t>28</a:t>
            </a:fld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pt-BR"/>
              <a:t>09/08/2019</a:t>
            </a:r>
            <a:endParaRPr lang="pt-BR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DA814-BF01-4D46-AFD4-21E356DD5E95}" type="slidenum">
              <a:rPr lang="pt-BR" smtClean="0"/>
              <a:pPr/>
              <a:t>29</a:t>
            </a:fld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pt-BR"/>
              <a:t>09/08/2019</a:t>
            </a:r>
            <a:endParaRPr lang="pt-BR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DA814-BF01-4D46-AFD4-21E356DD5E95}" type="slidenum">
              <a:rPr lang="pt-BR" smtClean="0"/>
              <a:pPr/>
              <a:t>30</a:t>
            </a:fld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pt-BR"/>
              <a:t>09/08/2019</a:t>
            </a:r>
            <a:endParaRPr lang="pt-BR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DA814-BF01-4D46-AFD4-21E356DD5E95}" type="slidenum">
              <a:rPr lang="pt-BR" smtClean="0"/>
              <a:pPr/>
              <a:t>31</a:t>
            </a:fld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pt-BR"/>
              <a:t>09/08/2019</a:t>
            </a:r>
            <a:endParaRPr lang="pt-BR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DA814-BF01-4D46-AFD4-21E356DD5E95}" type="slidenum">
              <a:rPr lang="pt-BR" smtClean="0"/>
              <a:pPr/>
              <a:t>32</a:t>
            </a:fld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pt-BR"/>
              <a:t>09/08/2019</a:t>
            </a:r>
            <a:endParaRPr lang="pt-BR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DA814-BF01-4D46-AFD4-21E356DD5E95}" type="slidenum">
              <a:rPr lang="pt-BR" smtClean="0"/>
              <a:pPr/>
              <a:t>33</a:t>
            </a:fld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pt-BR"/>
              <a:t>09/08/2019</a:t>
            </a:r>
            <a:endParaRPr lang="pt-BR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DA814-BF01-4D46-AFD4-21E356DD5E95}" type="slidenum">
              <a:rPr lang="pt-BR" smtClean="0"/>
              <a:pPr/>
              <a:t>34</a:t>
            </a:fld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pt-BR"/>
              <a:t>09/08/2019</a:t>
            </a:r>
            <a:endParaRPr lang="pt-BR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DA814-BF01-4D46-AFD4-21E356DD5E95}" type="slidenum">
              <a:rPr lang="pt-BR" smtClean="0"/>
              <a:pPr/>
              <a:t>35</a:t>
            </a:fld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pt-BR"/>
              <a:t>09/08/2019</a:t>
            </a:r>
            <a:endParaRPr lang="pt-BR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DA814-BF01-4D46-AFD4-21E356DD5E95}" type="slidenum">
              <a:rPr lang="pt-BR" smtClean="0"/>
              <a:pPr/>
              <a:t>36</a:t>
            </a:fld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pt-BR"/>
              <a:t>09/08/2019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524258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DA814-BF01-4D46-AFD4-21E356DD5E95}" type="slidenum">
              <a:rPr lang="pt-BR" smtClean="0"/>
              <a:pPr/>
              <a:t>37</a:t>
            </a:fld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pt-BR"/>
              <a:t>09/08/2019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5292777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DA814-BF01-4D46-AFD4-21E356DD5E95}" type="slidenum">
              <a:rPr lang="pt-BR" smtClean="0"/>
              <a:pPr/>
              <a:t>38</a:t>
            </a:fld>
            <a:endParaRPr lang="pt-BR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pt-BR"/>
              <a:t>09/08/2019</a:t>
            </a:r>
            <a:endParaRPr lang="pt-BR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1EC56-C577-4C20-B4BF-1C1666AC1FB9}" type="datetimeFigureOut">
              <a:rPr lang="pt-BR" smtClean="0"/>
              <a:pPr/>
              <a:t>15/03/2026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CA91F-B95E-4DC9-A6D4-2BFB0488EB4B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1EC56-C577-4C20-B4BF-1C1666AC1FB9}" type="datetimeFigureOut">
              <a:rPr lang="pt-BR" smtClean="0"/>
              <a:pPr/>
              <a:t>15/03/2026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CA91F-B95E-4DC9-A6D4-2BFB0488EB4B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1EC56-C577-4C20-B4BF-1C1666AC1FB9}" type="datetimeFigureOut">
              <a:rPr lang="pt-BR" smtClean="0"/>
              <a:pPr/>
              <a:t>15/03/2026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CA91F-B95E-4DC9-A6D4-2BFB0488EB4B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1EC56-C577-4C20-B4BF-1C1666AC1FB9}" type="datetimeFigureOut">
              <a:rPr lang="pt-BR" smtClean="0"/>
              <a:pPr/>
              <a:t>15/03/2026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CA91F-B95E-4DC9-A6D4-2BFB0488EB4B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1EC56-C577-4C20-B4BF-1C1666AC1FB9}" type="datetimeFigureOut">
              <a:rPr lang="pt-BR" smtClean="0"/>
              <a:pPr/>
              <a:t>15/03/2026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CA91F-B95E-4DC9-A6D4-2BFB0488EB4B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1EC56-C577-4C20-B4BF-1C1666AC1FB9}" type="datetimeFigureOut">
              <a:rPr lang="pt-BR" smtClean="0"/>
              <a:pPr/>
              <a:t>15/03/2026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CA91F-B95E-4DC9-A6D4-2BFB0488EB4B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1EC56-C577-4C20-B4BF-1C1666AC1FB9}" type="datetimeFigureOut">
              <a:rPr lang="pt-BR" smtClean="0"/>
              <a:pPr/>
              <a:t>15/03/2026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CA91F-B95E-4DC9-A6D4-2BFB0488EB4B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1EC56-C577-4C20-B4BF-1C1666AC1FB9}" type="datetimeFigureOut">
              <a:rPr lang="pt-BR" smtClean="0"/>
              <a:pPr/>
              <a:t>15/03/2026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CA91F-B95E-4DC9-A6D4-2BFB0488EB4B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1EC56-C577-4C20-B4BF-1C1666AC1FB9}" type="datetimeFigureOut">
              <a:rPr lang="pt-BR" smtClean="0"/>
              <a:pPr/>
              <a:t>15/03/2026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CA91F-B95E-4DC9-A6D4-2BFB0488EB4B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1EC56-C577-4C20-B4BF-1C1666AC1FB9}" type="datetimeFigureOut">
              <a:rPr lang="pt-BR" smtClean="0"/>
              <a:pPr/>
              <a:t>15/03/2026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CA91F-B95E-4DC9-A6D4-2BFB0488EB4B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1EC56-C577-4C20-B4BF-1C1666AC1FB9}" type="datetimeFigureOut">
              <a:rPr lang="pt-BR" smtClean="0"/>
              <a:pPr/>
              <a:t>15/03/2026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CA91F-B95E-4DC9-A6D4-2BFB0488EB4B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21EC56-C577-4C20-B4BF-1C1666AC1FB9}" type="datetimeFigureOut">
              <a:rPr lang="pt-BR" smtClean="0"/>
              <a:pPr/>
              <a:t>15/03/2026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8CA91F-B95E-4DC9-A6D4-2BFB0488EB4B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16632"/>
            <a:ext cx="7772400" cy="1470025"/>
          </a:xfrm>
        </p:spPr>
        <p:txBody>
          <a:bodyPr/>
          <a:lstStyle/>
          <a:p>
            <a:r>
              <a:rPr lang="pt-BR" b="1" dirty="0"/>
              <a:t>Introdução à Microeconomia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259632" y="5852864"/>
            <a:ext cx="6400800" cy="744488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chemeClr val="tx1"/>
                </a:solidFill>
              </a:rPr>
              <a:t> Economia  e Finanças– ADS</a:t>
            </a:r>
          </a:p>
        </p:txBody>
      </p:sp>
      <p:pic>
        <p:nvPicPr>
          <p:cNvPr id="1026" name="Picture 2" descr="Resultado de imagem para imagem da bovespa">
            <a:extLst>
              <a:ext uri="{FF2B5EF4-FFF2-40B4-BE49-F238E27FC236}">
                <a16:creationId xmlns:a16="http://schemas.microsoft.com/office/drawing/2014/main" id="{C53E98FD-AD91-486A-A41B-6149FEB34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631603"/>
            <a:ext cx="6984776" cy="3597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0017BB9E-E6B2-4000-B2A6-4A3AC9AE9C4C}"/>
              </a:ext>
            </a:extLst>
          </p:cNvPr>
          <p:cNvSpPr txBox="1"/>
          <p:nvPr/>
        </p:nvSpPr>
        <p:spPr>
          <a:xfrm>
            <a:off x="-36512" y="188640"/>
            <a:ext cx="892899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“A ciência nada mais é do que o refinamento do pensamento cotidiano ” (Albert Einstein)</a:t>
            </a:r>
          </a:p>
        </p:txBody>
      </p:sp>
      <p:pic>
        <p:nvPicPr>
          <p:cNvPr id="2050" name="Picture 2" descr="Ver a imagem de origem">
            <a:extLst>
              <a:ext uri="{FF2B5EF4-FFF2-40B4-BE49-F238E27FC236}">
                <a16:creationId xmlns:a16="http://schemas.microsoft.com/office/drawing/2014/main" id="{7133FC90-8321-4474-B753-A3E2F64489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964" y="1484784"/>
            <a:ext cx="8572500" cy="4990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7107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754" name="Text Box 2">
            <a:extLst>
              <a:ext uri="{FF2B5EF4-FFF2-40B4-BE49-F238E27FC236}">
                <a16:creationId xmlns:a16="http://schemas.microsoft.com/office/drawing/2014/main" id="{6AFFDB56-153A-4F90-8D97-A891DFB3CB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5825" y="1143000"/>
            <a:ext cx="25939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pt-BR" sz="240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Aspecto Econômico</a:t>
            </a:r>
            <a:endParaRPr lang="en-US" sz="2400" b="1" i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9636" name="Text Box 3">
            <a:extLst>
              <a:ext uri="{FF2B5EF4-FFF2-40B4-BE49-F238E27FC236}">
                <a16:creationId xmlns:a16="http://schemas.microsoft.com/office/drawing/2014/main" id="{A6B17F38-FCEF-4AD8-B25B-90CA6BEA05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6438" y="3276600"/>
            <a:ext cx="2824162" cy="1249363"/>
          </a:xfrm>
          <a:prstGeom prst="rect">
            <a:avLst/>
          </a:pr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pt-BR" altLang="pt-BR" b="1" i="1">
                <a:solidFill>
                  <a:schemeClr val="bg1"/>
                </a:solidFill>
              </a:rPr>
              <a:t>         </a:t>
            </a:r>
            <a:r>
              <a:rPr lang="pt-BR" altLang="pt-BR" sz="2400" b="1">
                <a:solidFill>
                  <a:schemeClr val="bg1"/>
                </a:solidFill>
              </a:rPr>
              <a:t>Realidade</a:t>
            </a:r>
            <a:endParaRPr lang="en-US" altLang="pt-BR" sz="2400" b="1">
              <a:solidFill>
                <a:schemeClr val="bg1"/>
              </a:solidFill>
            </a:endParaRPr>
          </a:p>
          <a:p>
            <a:pPr algn="l" eaLnBrk="1" hangingPunct="1"/>
            <a:r>
              <a:rPr lang="pt-BR" altLang="pt-BR" sz="2400" b="1">
                <a:solidFill>
                  <a:schemeClr val="bg1"/>
                </a:solidFill>
              </a:rPr>
              <a:t>Aspecto Material do</a:t>
            </a:r>
          </a:p>
          <a:p>
            <a:pPr algn="l" eaLnBrk="1" hangingPunct="1"/>
            <a:r>
              <a:rPr lang="pt-BR" altLang="pt-BR" sz="2400" b="1">
                <a:solidFill>
                  <a:schemeClr val="bg1"/>
                </a:solidFill>
              </a:rPr>
              <a:t>          Objeto</a:t>
            </a:r>
            <a:endParaRPr lang="en-US" altLang="pt-BR" sz="2400" b="1">
              <a:solidFill>
                <a:schemeClr val="bg1"/>
              </a:solidFill>
            </a:endParaRPr>
          </a:p>
        </p:txBody>
      </p:sp>
      <p:pic>
        <p:nvPicPr>
          <p:cNvPr id="69637" name="Picture 5" descr="pe01846_">
            <a:extLst>
              <a:ext uri="{FF2B5EF4-FFF2-40B4-BE49-F238E27FC236}">
                <a16:creationId xmlns:a16="http://schemas.microsoft.com/office/drawing/2014/main" id="{7B073F5C-9BF2-4E48-89C8-AF9E3BBE75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050" y="2057400"/>
            <a:ext cx="2063750" cy="906463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4762" name="Text Box 10">
            <a:extLst>
              <a:ext uri="{FF2B5EF4-FFF2-40B4-BE49-F238E27FC236}">
                <a16:creationId xmlns:a16="http://schemas.microsoft.com/office/drawing/2014/main" id="{0D2C6A7E-FA7B-447F-A394-6CC7998865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2425" y="1524000"/>
            <a:ext cx="1984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pt-BR" sz="2400" b="1" i="1" dirty="0">
                <a:solidFill>
                  <a:srgbClr val="00B0F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Aspecto Social</a:t>
            </a:r>
            <a:endParaRPr lang="en-US" sz="2400" b="1" i="1" dirty="0">
              <a:solidFill>
                <a:srgbClr val="00B0F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14763" name="Text Box 11">
            <a:extLst>
              <a:ext uri="{FF2B5EF4-FFF2-40B4-BE49-F238E27FC236}">
                <a16:creationId xmlns:a16="http://schemas.microsoft.com/office/drawing/2014/main" id="{7FD4C96E-AA3F-4F46-85B0-02D7D1391E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24000"/>
            <a:ext cx="21859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pt-BR" sz="2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Aspecto Político</a:t>
            </a:r>
            <a:endParaRPr lang="en-US" sz="2400" b="1" i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14764" name="Text Box 12">
            <a:extLst>
              <a:ext uri="{FF2B5EF4-FFF2-40B4-BE49-F238E27FC236}">
                <a16:creationId xmlns:a16="http://schemas.microsoft.com/office/drawing/2014/main" id="{C0755043-983F-43C6-93A1-552C87A168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638800"/>
            <a:ext cx="2374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pt-BR" sz="2400" b="1" i="1" dirty="0">
                <a:solidFill>
                  <a:srgbClr val="92D05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Aspecto Histórico</a:t>
            </a:r>
            <a:endParaRPr lang="en-US" sz="2400" b="1" i="1" dirty="0">
              <a:solidFill>
                <a:srgbClr val="92D05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14765" name="Text Box 13">
            <a:extLst>
              <a:ext uri="{FF2B5EF4-FFF2-40B4-BE49-F238E27FC236}">
                <a16:creationId xmlns:a16="http://schemas.microsoft.com/office/drawing/2014/main" id="{4BD3B709-3B1D-42AE-97F6-6E31818A25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6172200"/>
            <a:ext cx="26114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pt-BR" sz="2400" b="1" i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Aspecto Geográfico</a:t>
            </a:r>
            <a:endParaRPr lang="en-US" sz="2400" b="1" i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14766" name="Text Box 14">
            <a:extLst>
              <a:ext uri="{FF2B5EF4-FFF2-40B4-BE49-F238E27FC236}">
                <a16:creationId xmlns:a16="http://schemas.microsoft.com/office/drawing/2014/main" id="{C6083BC7-00A3-484D-AEE8-302BE9A3F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4238" y="5562600"/>
            <a:ext cx="317976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pt-BR" sz="2400" b="1" i="1" dirty="0">
                <a:solidFill>
                  <a:srgbClr val="00B0F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Aspecto Demográfico</a:t>
            </a:r>
            <a:endParaRPr lang="en-US" sz="2400" b="1" i="1" dirty="0">
              <a:solidFill>
                <a:srgbClr val="00B0F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9643" name="Line 15">
            <a:extLst>
              <a:ext uri="{FF2B5EF4-FFF2-40B4-BE49-F238E27FC236}">
                <a16:creationId xmlns:a16="http://schemas.microsoft.com/office/drawing/2014/main" id="{8A4E7D01-669B-4D79-B19B-519D47503EDF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3048000"/>
            <a:ext cx="304800" cy="1524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69644" name="Line 16">
            <a:extLst>
              <a:ext uri="{FF2B5EF4-FFF2-40B4-BE49-F238E27FC236}">
                <a16:creationId xmlns:a16="http://schemas.microsoft.com/office/drawing/2014/main" id="{11471840-2A21-4692-B9CA-69D4A5817CCE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3276600"/>
            <a:ext cx="762000" cy="9906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69645" name="Line 17">
            <a:extLst>
              <a:ext uri="{FF2B5EF4-FFF2-40B4-BE49-F238E27FC236}">
                <a16:creationId xmlns:a16="http://schemas.microsoft.com/office/drawing/2014/main" id="{5AB4766D-58B2-47F1-A4E6-2CFD6FBF8E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3733800"/>
            <a:ext cx="685800" cy="7620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69646" name="Line 18">
            <a:extLst>
              <a:ext uri="{FF2B5EF4-FFF2-40B4-BE49-F238E27FC236}">
                <a16:creationId xmlns:a16="http://schemas.microsoft.com/office/drawing/2014/main" id="{EC97EF5B-C41D-4E1F-9B73-D768141117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43200" y="4572000"/>
            <a:ext cx="304800" cy="2286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69647" name="Line 19">
            <a:extLst>
              <a:ext uri="{FF2B5EF4-FFF2-40B4-BE49-F238E27FC236}">
                <a16:creationId xmlns:a16="http://schemas.microsoft.com/office/drawing/2014/main" id="{695114C7-A091-43CA-8F93-FAEC1CF6BB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24400" y="4724400"/>
            <a:ext cx="0" cy="3810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69648" name="Line 20">
            <a:extLst>
              <a:ext uri="{FF2B5EF4-FFF2-40B4-BE49-F238E27FC236}">
                <a16:creationId xmlns:a16="http://schemas.microsoft.com/office/drawing/2014/main" id="{ED9788ED-ED4D-4DAC-8BCE-F139B848D3C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24600" y="4343400"/>
            <a:ext cx="304800" cy="228600"/>
          </a:xfrm>
          <a:prstGeom prst="line">
            <a:avLst/>
          </a:prstGeom>
          <a:noFill/>
          <a:ln w="9525">
            <a:solidFill>
              <a:srgbClr val="00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69649" name="Line 21">
            <a:extLst>
              <a:ext uri="{FF2B5EF4-FFF2-40B4-BE49-F238E27FC236}">
                <a16:creationId xmlns:a16="http://schemas.microsoft.com/office/drawing/2014/main" id="{19F2E4FF-B168-4C69-8F39-9F796447277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2743200"/>
            <a:ext cx="0" cy="3810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69650" name="Line 22">
            <a:extLst>
              <a:ext uri="{FF2B5EF4-FFF2-40B4-BE49-F238E27FC236}">
                <a16:creationId xmlns:a16="http://schemas.microsoft.com/office/drawing/2014/main" id="{621D557B-D5A1-478D-A909-8FCACC4553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48400" y="2971800"/>
            <a:ext cx="228600" cy="2286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69651" name="Line 23">
            <a:extLst>
              <a:ext uri="{FF2B5EF4-FFF2-40B4-BE49-F238E27FC236}">
                <a16:creationId xmlns:a16="http://schemas.microsoft.com/office/drawing/2014/main" id="{EF274ABA-86FC-491F-9854-8779F5A854E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43200" y="4800600"/>
            <a:ext cx="1219200" cy="3810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69652" name="Line 24">
            <a:extLst>
              <a:ext uri="{FF2B5EF4-FFF2-40B4-BE49-F238E27FC236}">
                <a16:creationId xmlns:a16="http://schemas.microsoft.com/office/drawing/2014/main" id="{AFC08323-D7A0-47F8-A84F-5F98F32F29D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352800" y="4724400"/>
            <a:ext cx="609600" cy="3810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69653" name="Line 25">
            <a:extLst>
              <a:ext uri="{FF2B5EF4-FFF2-40B4-BE49-F238E27FC236}">
                <a16:creationId xmlns:a16="http://schemas.microsoft.com/office/drawing/2014/main" id="{0945F6C5-8F86-4F1F-BCCB-B1C83702A5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86400" y="4724400"/>
            <a:ext cx="762000" cy="3810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69654" name="Line 26">
            <a:extLst>
              <a:ext uri="{FF2B5EF4-FFF2-40B4-BE49-F238E27FC236}">
                <a16:creationId xmlns:a16="http://schemas.microsoft.com/office/drawing/2014/main" id="{CE1A3D11-B932-4C39-8256-7E8A461FBC5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715000" y="4800600"/>
            <a:ext cx="762000" cy="2286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69655" name="Line 27">
            <a:extLst>
              <a:ext uri="{FF2B5EF4-FFF2-40B4-BE49-F238E27FC236}">
                <a16:creationId xmlns:a16="http://schemas.microsoft.com/office/drawing/2014/main" id="{9058C6CC-FDC0-4B9F-889C-9FE6B377091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24600" y="3505200"/>
            <a:ext cx="609600" cy="8382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69656" name="Line 28">
            <a:extLst>
              <a:ext uri="{FF2B5EF4-FFF2-40B4-BE49-F238E27FC236}">
                <a16:creationId xmlns:a16="http://schemas.microsoft.com/office/drawing/2014/main" id="{DA953A44-073D-47EA-AF3F-8ADA88099B8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24600" y="3276600"/>
            <a:ext cx="533400" cy="7620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69657" name="Line 29">
            <a:extLst>
              <a:ext uri="{FF2B5EF4-FFF2-40B4-BE49-F238E27FC236}">
                <a16:creationId xmlns:a16="http://schemas.microsoft.com/office/drawing/2014/main" id="{882B4D2C-36B4-43CB-A188-97DDAF7F540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57800" y="2590800"/>
            <a:ext cx="1143000" cy="5334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69658" name="Line 30">
            <a:extLst>
              <a:ext uri="{FF2B5EF4-FFF2-40B4-BE49-F238E27FC236}">
                <a16:creationId xmlns:a16="http://schemas.microsoft.com/office/drawing/2014/main" id="{7542C6C5-11CF-4D94-A966-4E1FD514CCA5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2743200"/>
            <a:ext cx="533400" cy="3810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69659" name="Line 31">
            <a:extLst>
              <a:ext uri="{FF2B5EF4-FFF2-40B4-BE49-F238E27FC236}">
                <a16:creationId xmlns:a16="http://schemas.microsoft.com/office/drawing/2014/main" id="{6CCA0869-29FC-4D54-A6BD-66B772C3D48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81400" y="2743200"/>
            <a:ext cx="838200" cy="3810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69660" name="Line 32">
            <a:extLst>
              <a:ext uri="{FF2B5EF4-FFF2-40B4-BE49-F238E27FC236}">
                <a16:creationId xmlns:a16="http://schemas.microsoft.com/office/drawing/2014/main" id="{30DC6759-2FF7-4D5C-B26F-EA1F0C7E807F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2514600"/>
            <a:ext cx="1371600" cy="5334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pic>
        <p:nvPicPr>
          <p:cNvPr id="69661" name="Picture 33" descr="BS00561_">
            <a:extLst>
              <a:ext uri="{FF2B5EF4-FFF2-40B4-BE49-F238E27FC236}">
                <a16:creationId xmlns:a16="http://schemas.microsoft.com/office/drawing/2014/main" id="{7C92EA03-E912-45FF-A51F-AEBB0061D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1524000"/>
            <a:ext cx="236855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62" name="Picture 34" descr="BD06982_">
            <a:extLst>
              <a:ext uri="{FF2B5EF4-FFF2-40B4-BE49-F238E27FC236}">
                <a16:creationId xmlns:a16="http://schemas.microsoft.com/office/drawing/2014/main" id="{4CEEE6F8-594B-410E-A662-E05FF2BCE6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019300"/>
            <a:ext cx="2057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63" name="Picture 35" descr="NA01062_">
            <a:extLst>
              <a:ext uri="{FF2B5EF4-FFF2-40B4-BE49-F238E27FC236}">
                <a16:creationId xmlns:a16="http://schemas.microsoft.com/office/drawing/2014/main" id="{2822A766-372C-4ABA-A951-4B1AC59FD7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7775" y="5148263"/>
            <a:ext cx="1905000" cy="113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64" name="Picture 37" descr="BS00554_">
            <a:extLst>
              <a:ext uri="{FF2B5EF4-FFF2-40B4-BE49-F238E27FC236}">
                <a16:creationId xmlns:a16="http://schemas.microsoft.com/office/drawing/2014/main" id="{64043A52-5B3D-4E54-A2EB-F92C63B648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5" y="4168775"/>
            <a:ext cx="183515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65" name="Picture 38" descr="PE02097_">
            <a:extLst>
              <a:ext uri="{FF2B5EF4-FFF2-40B4-BE49-F238E27FC236}">
                <a16:creationId xmlns:a16="http://schemas.microsoft.com/office/drawing/2014/main" id="{B76C6A87-7F14-4FDC-8E3B-D6D916966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4205288"/>
            <a:ext cx="1752600" cy="140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ço Reservado para Número de Slide 3">
            <a:extLst>
              <a:ext uri="{FF2B5EF4-FFF2-40B4-BE49-F238E27FC236}">
                <a16:creationId xmlns:a16="http://schemas.microsoft.com/office/drawing/2014/main" id="{B64A1775-1DC8-4C02-BB87-F861965B5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385C697-EE6D-4247-A871-453180797B86}" type="slidenum">
              <a:rPr lang="pt-BR" altLang="pt-BR" sz="1400">
                <a:solidFill>
                  <a:schemeClr val="bg1"/>
                </a:solidFill>
              </a:rPr>
              <a:pPr eaLnBrk="1" hangingPunct="1"/>
              <a:t>4</a:t>
            </a:fld>
            <a:endParaRPr lang="pt-BR" altLang="pt-BR" sz="1400">
              <a:solidFill>
                <a:schemeClr val="bg1"/>
              </a:solidFill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C2390355-82D6-4534-B3F7-582AD2685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4713" y="914400"/>
            <a:ext cx="50085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pt-BR" sz="2400" b="1">
                <a:solidFill>
                  <a:srgbClr val="FF3300"/>
                </a:solidFill>
              </a:rPr>
              <a:t>Análise Positiva – Análise Normativa</a:t>
            </a:r>
          </a:p>
        </p:txBody>
      </p:sp>
      <p:sp>
        <p:nvSpPr>
          <p:cNvPr id="68612" name="Text Box 3">
            <a:extLst>
              <a:ext uri="{FF2B5EF4-FFF2-40B4-BE49-F238E27FC236}">
                <a16:creationId xmlns:a16="http://schemas.microsoft.com/office/drawing/2014/main" id="{23A3EDC7-74D4-40C9-93A5-6265579029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676400"/>
            <a:ext cx="8736012" cy="1969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pt-BR" altLang="pt-BR" b="1" dirty="0"/>
              <a:t>Declarações Positivas</a:t>
            </a:r>
            <a:r>
              <a:rPr lang="en-US" altLang="pt-BR" b="1" dirty="0"/>
              <a:t>:</a:t>
            </a:r>
            <a:r>
              <a:rPr lang="en-US" altLang="pt-BR" dirty="0"/>
              <a:t> o</a:t>
            </a:r>
            <a:r>
              <a:rPr lang="pt-BR" altLang="pt-BR" dirty="0"/>
              <a:t>s economistas tentam descrever </a:t>
            </a:r>
          </a:p>
          <a:p>
            <a:pPr algn="l" eaLnBrk="1" hangingPunct="1"/>
            <a:r>
              <a:rPr lang="pt-BR" altLang="pt-BR" dirty="0"/>
              <a:t>          (Descritivas)         </a:t>
            </a:r>
            <a:r>
              <a:rPr lang="en-US" altLang="pt-BR" dirty="0"/>
              <a:t>	</a:t>
            </a:r>
            <a:r>
              <a:rPr lang="pt-BR" altLang="pt-BR" dirty="0"/>
              <a:t>o mundo como ele é.</a:t>
            </a:r>
            <a:endParaRPr lang="en-US" altLang="pt-BR" dirty="0"/>
          </a:p>
          <a:p>
            <a:pPr algn="l" eaLnBrk="1" hangingPunct="1"/>
            <a:endParaRPr lang="en-US" altLang="pt-BR" sz="900" dirty="0"/>
          </a:p>
          <a:p>
            <a:pPr algn="l" eaLnBrk="1" hangingPunct="1"/>
            <a:endParaRPr lang="pt-BR" altLang="pt-BR" sz="900" dirty="0"/>
          </a:p>
          <a:p>
            <a:pPr algn="l" eaLnBrk="1" hangingPunct="1"/>
            <a:r>
              <a:rPr lang="pt-BR" altLang="pt-BR" sz="2400" dirty="0"/>
              <a:t>Ex.: Uma redução na taxa de crescimento da quantidade de moeda reduziria a Taxa de Inflação.</a:t>
            </a:r>
            <a:r>
              <a:rPr lang="en-US" altLang="pt-BR" sz="2400" dirty="0"/>
              <a:t> </a:t>
            </a:r>
            <a:r>
              <a:rPr lang="pt-BR" altLang="pt-BR" sz="2400" dirty="0"/>
              <a:t>(</a:t>
            </a:r>
            <a:r>
              <a:rPr lang="pt-BR" altLang="pt-BR" sz="2400" b="1" dirty="0"/>
              <a:t>Cientistas econômicos</a:t>
            </a:r>
            <a:r>
              <a:rPr lang="pt-BR" altLang="pt-BR" sz="2400" dirty="0"/>
              <a:t>)</a:t>
            </a:r>
          </a:p>
        </p:txBody>
      </p:sp>
      <p:sp>
        <p:nvSpPr>
          <p:cNvPr id="68613" name="Text Box 4">
            <a:extLst>
              <a:ext uri="{FF2B5EF4-FFF2-40B4-BE49-F238E27FC236}">
                <a16:creationId xmlns:a16="http://schemas.microsoft.com/office/drawing/2014/main" id="{7B1393E3-1A0E-48A7-AED6-999DD6C47E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4081780"/>
            <a:ext cx="8758237" cy="2200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pt-BR" altLang="pt-BR" b="1" dirty="0"/>
              <a:t>Declarações Normativas</a:t>
            </a:r>
            <a:r>
              <a:rPr lang="en-US" altLang="pt-BR" b="1" dirty="0"/>
              <a:t>:</a:t>
            </a:r>
            <a:r>
              <a:rPr lang="en-US" altLang="pt-BR" dirty="0"/>
              <a:t> o</a:t>
            </a:r>
            <a:r>
              <a:rPr lang="pt-BR" altLang="pt-BR" dirty="0"/>
              <a:t>s economistas prescrevem </a:t>
            </a:r>
          </a:p>
          <a:p>
            <a:pPr algn="l" eaLnBrk="1" hangingPunct="1"/>
            <a:r>
              <a:rPr lang="pt-BR" altLang="pt-BR" dirty="0"/>
              <a:t>          (Prescritivas)            como o mundo deveria ser.</a:t>
            </a:r>
            <a:endParaRPr lang="en-US" altLang="pt-BR" dirty="0"/>
          </a:p>
          <a:p>
            <a:pPr algn="l" eaLnBrk="1" hangingPunct="1"/>
            <a:endParaRPr lang="pt-BR" altLang="pt-BR" sz="900" dirty="0"/>
          </a:p>
          <a:p>
            <a:pPr algn="just" eaLnBrk="1" hangingPunct="1"/>
            <a:r>
              <a:rPr lang="pt-BR" altLang="pt-BR" sz="2400" dirty="0"/>
              <a:t>Ex.:  O Banco Central deveria reduzir a quantidade de moeda</a:t>
            </a:r>
            <a:r>
              <a:rPr lang="en-US" altLang="pt-BR" sz="2400" dirty="0"/>
              <a:t> </a:t>
            </a:r>
            <a:r>
              <a:rPr lang="pt-BR" altLang="pt-BR" sz="2400" dirty="0"/>
              <a:t>emitida.  (Envolve: Valores, ética, religião, </a:t>
            </a:r>
            <a:r>
              <a:rPr lang="pt-BR" altLang="pt-BR" sz="2400" dirty="0" err="1"/>
              <a:t>política,etc</a:t>
            </a:r>
            <a:r>
              <a:rPr lang="pt-BR" altLang="pt-BR" sz="2400" dirty="0"/>
              <a:t>.)</a:t>
            </a:r>
            <a:r>
              <a:rPr lang="en-US" altLang="pt-BR" sz="2400" dirty="0"/>
              <a:t> </a:t>
            </a:r>
            <a:r>
              <a:rPr lang="pt-BR" altLang="pt-BR" sz="2400" dirty="0"/>
              <a:t>(</a:t>
            </a:r>
            <a:r>
              <a:rPr lang="pt-BR" altLang="pt-BR" sz="2400" b="1" dirty="0"/>
              <a:t>Formuladores de</a:t>
            </a:r>
            <a:r>
              <a:rPr lang="en-US" altLang="pt-BR" sz="2400" b="1" dirty="0"/>
              <a:t> </a:t>
            </a:r>
            <a:r>
              <a:rPr lang="pt-BR" altLang="pt-BR" sz="2400" b="1" dirty="0"/>
              <a:t>políticas</a:t>
            </a:r>
            <a:r>
              <a:rPr lang="pt-BR" altLang="pt-BR" sz="2400" dirty="0"/>
              <a:t>)</a:t>
            </a:r>
          </a:p>
        </p:txBody>
      </p:sp>
    </p:spTree>
  </p:cSld>
  <p:clrMapOvr>
    <a:masterClrMapping/>
  </p:clrMapOvr>
  <p:transition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ço Reservado para Número de Slide 3">
            <a:extLst>
              <a:ext uri="{FF2B5EF4-FFF2-40B4-BE49-F238E27FC236}">
                <a16:creationId xmlns:a16="http://schemas.microsoft.com/office/drawing/2014/main" id="{31498B1C-378F-4C94-8D45-3CCDAB6D5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710E2C28-8951-450D-8841-766DBAFD8238}" type="slidenum">
              <a:rPr lang="pt-BR" altLang="pt-BR" sz="1400">
                <a:solidFill>
                  <a:schemeClr val="bg1"/>
                </a:solidFill>
              </a:rPr>
              <a:pPr eaLnBrk="1" hangingPunct="1"/>
              <a:t>5</a:t>
            </a:fld>
            <a:endParaRPr lang="pt-BR" altLang="pt-BR" sz="1400">
              <a:solidFill>
                <a:schemeClr val="bg1"/>
              </a:solidFill>
            </a:endParaRP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8BE0BFC2-6F47-480B-A881-5B236FA4A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914400"/>
            <a:ext cx="53435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pt-BR" altLang="pt-BR" sz="3200" b="1">
                <a:solidFill>
                  <a:srgbClr val="FF3300"/>
                </a:solidFill>
              </a:rPr>
              <a:t>Divisão do Estudo Econômico</a:t>
            </a:r>
            <a:endParaRPr lang="en-US" altLang="pt-BR" sz="3200" b="1">
              <a:solidFill>
                <a:srgbClr val="FF3300"/>
              </a:solidFill>
            </a:endParaRPr>
          </a:p>
        </p:txBody>
      </p:sp>
      <p:sp>
        <p:nvSpPr>
          <p:cNvPr id="70660" name="Text Box 3">
            <a:extLst>
              <a:ext uri="{FF2B5EF4-FFF2-40B4-BE49-F238E27FC236}">
                <a16:creationId xmlns:a16="http://schemas.microsoft.com/office/drawing/2014/main" id="{44F1DD15-BEB1-488E-ACBD-3E3BD09E6B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725" y="1800225"/>
            <a:ext cx="857567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/>
            <a:r>
              <a:rPr lang="pt-BR" altLang="pt-BR" sz="2400" b="1" dirty="0"/>
              <a:t>Microeconomia</a:t>
            </a:r>
            <a:r>
              <a:rPr lang="en-US" altLang="pt-BR" sz="2400" b="1" dirty="0"/>
              <a:t>:</a:t>
            </a:r>
            <a:r>
              <a:rPr lang="en-US" altLang="pt-BR" sz="2400" dirty="0"/>
              <a:t> </a:t>
            </a:r>
            <a:r>
              <a:rPr lang="pt-BR" altLang="pt-BR" sz="2400" dirty="0"/>
              <a:t>é o ramo  da  Teoria  Econômica  que estuda o funcionamento do mercado de um determinado</a:t>
            </a:r>
            <a:r>
              <a:rPr lang="en-US" altLang="pt-BR" sz="2400" dirty="0"/>
              <a:t> </a:t>
            </a:r>
            <a:r>
              <a:rPr lang="pt-BR" altLang="pt-BR" sz="2400" dirty="0"/>
              <a:t>produto ou grupo de produtos, ou seja, o comportamento</a:t>
            </a:r>
            <a:r>
              <a:rPr lang="en-US" altLang="pt-BR" sz="2400" dirty="0"/>
              <a:t> </a:t>
            </a:r>
            <a:r>
              <a:rPr lang="pt-BR" altLang="pt-BR" sz="2400" dirty="0"/>
              <a:t>dos compradores (consumidores) e vendedores (produtores) de tais bens.</a:t>
            </a:r>
            <a:endParaRPr lang="en-US" altLang="pt-BR" sz="2400" dirty="0"/>
          </a:p>
        </p:txBody>
      </p:sp>
      <p:sp>
        <p:nvSpPr>
          <p:cNvPr id="70661" name="Text Box 4">
            <a:extLst>
              <a:ext uri="{FF2B5EF4-FFF2-40B4-BE49-F238E27FC236}">
                <a16:creationId xmlns:a16="http://schemas.microsoft.com/office/drawing/2014/main" id="{A353C0EF-AAFF-46D3-B726-0A4821C55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613150"/>
            <a:ext cx="86106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/>
            <a:r>
              <a:rPr lang="pt-BR" altLang="pt-BR" sz="2400">
                <a:solidFill>
                  <a:schemeClr val="bg1"/>
                </a:solidFill>
              </a:rPr>
              <a:t>Estuda o comportamento de consumidores e produtores</a:t>
            </a:r>
            <a:r>
              <a:rPr lang="en-US" altLang="pt-BR" sz="2400">
                <a:solidFill>
                  <a:schemeClr val="bg1"/>
                </a:solidFill>
              </a:rPr>
              <a:t> </a:t>
            </a:r>
            <a:r>
              <a:rPr lang="pt-BR" altLang="pt-BR" sz="2400">
                <a:solidFill>
                  <a:schemeClr val="bg1"/>
                </a:solidFill>
              </a:rPr>
              <a:t>e o mercado no qual interagem. Preocupa-se com a determinação dos preços e quantidades em mercados específicos.</a:t>
            </a:r>
          </a:p>
        </p:txBody>
      </p:sp>
      <p:sp>
        <p:nvSpPr>
          <p:cNvPr id="70662" name="Text Box 5">
            <a:extLst>
              <a:ext uri="{FF2B5EF4-FFF2-40B4-BE49-F238E27FC236}">
                <a16:creationId xmlns:a16="http://schemas.microsoft.com/office/drawing/2014/main" id="{1A3B21F2-9A09-47CB-B84D-5D7855E18B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675" y="5045075"/>
            <a:ext cx="85947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pt-BR" altLang="pt-BR" sz="2400">
                <a:solidFill>
                  <a:schemeClr val="bg1"/>
                </a:solidFill>
              </a:rPr>
              <a:t>Ex.: Evolução dos preços internacionais do café brasileiro.</a:t>
            </a:r>
            <a:r>
              <a:rPr lang="en-US" altLang="pt-BR" sz="2400">
                <a:solidFill>
                  <a:schemeClr val="bg1"/>
                </a:solidFill>
              </a:rPr>
              <a:t> </a:t>
            </a:r>
            <a:r>
              <a:rPr lang="pt-BR" altLang="pt-BR" sz="2400">
                <a:solidFill>
                  <a:schemeClr val="bg1"/>
                </a:solidFill>
              </a:rPr>
              <a:t>O nível de vendas no varejo, numa capital. </a:t>
            </a:r>
          </a:p>
        </p:txBody>
      </p:sp>
    </p:spTree>
  </p:cSld>
  <p:clrMapOvr>
    <a:masterClrMapping/>
  </p:clrMapOvr>
  <p:transition>
    <p:wipe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ço Reservado para Número de Slide 3">
            <a:extLst>
              <a:ext uri="{FF2B5EF4-FFF2-40B4-BE49-F238E27FC236}">
                <a16:creationId xmlns:a16="http://schemas.microsoft.com/office/drawing/2014/main" id="{174D4ECD-806E-485D-B792-2304A99BC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F0A2027-0B93-4925-877F-3729EC87963B}" type="slidenum">
              <a:rPr lang="pt-BR" altLang="pt-BR" sz="1400">
                <a:solidFill>
                  <a:schemeClr val="bg1"/>
                </a:solidFill>
              </a:rPr>
              <a:pPr eaLnBrk="1" hangingPunct="1"/>
              <a:t>6</a:t>
            </a:fld>
            <a:endParaRPr lang="pt-BR" altLang="pt-BR" sz="1400">
              <a:solidFill>
                <a:schemeClr val="bg1"/>
              </a:solidFill>
            </a:endParaRPr>
          </a:p>
        </p:txBody>
      </p:sp>
      <p:sp>
        <p:nvSpPr>
          <p:cNvPr id="71683" name="Text Box 3074">
            <a:extLst>
              <a:ext uri="{FF2B5EF4-FFF2-40B4-BE49-F238E27FC236}">
                <a16:creationId xmlns:a16="http://schemas.microsoft.com/office/drawing/2014/main" id="{772409D8-A22A-492A-82AF-54802AE7FF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1947863"/>
            <a:ext cx="8410575" cy="308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/>
            <a:r>
              <a:rPr lang="pt-BR" altLang="pt-BR" b="1" dirty="0"/>
              <a:t>Macroeconomia</a:t>
            </a:r>
            <a:r>
              <a:rPr lang="en-US" altLang="pt-BR" b="1" dirty="0"/>
              <a:t>:</a:t>
            </a:r>
            <a:r>
              <a:rPr lang="pt-BR" altLang="pt-BR" dirty="0"/>
              <a:t> é o ramo  da  Teoria  Econômica  que</a:t>
            </a:r>
            <a:r>
              <a:rPr lang="en-US" altLang="pt-BR" dirty="0"/>
              <a:t> </a:t>
            </a:r>
            <a:r>
              <a:rPr lang="pt-BR" altLang="pt-BR" dirty="0"/>
              <a:t>estuda o funcionamento como um todo, procurando</a:t>
            </a:r>
            <a:r>
              <a:rPr lang="en-US" altLang="pt-BR" dirty="0"/>
              <a:t> </a:t>
            </a:r>
            <a:r>
              <a:rPr lang="en-US" altLang="pt-BR" dirty="0" err="1"/>
              <a:t>i</a:t>
            </a:r>
            <a:r>
              <a:rPr lang="pt-BR" altLang="pt-BR" dirty="0" err="1"/>
              <a:t>dentificar</a:t>
            </a:r>
            <a:r>
              <a:rPr lang="pt-BR" altLang="pt-BR" dirty="0"/>
              <a:t> e medir as variáveis (agregadas) que</a:t>
            </a:r>
            <a:r>
              <a:rPr lang="en-US" altLang="pt-BR" dirty="0"/>
              <a:t> </a:t>
            </a:r>
            <a:r>
              <a:rPr lang="pt-BR" altLang="pt-BR" dirty="0"/>
              <a:t>determinam</a:t>
            </a:r>
            <a:r>
              <a:rPr lang="en-US" altLang="pt-BR" dirty="0"/>
              <a:t> </a:t>
            </a:r>
            <a:r>
              <a:rPr lang="pt-BR" altLang="pt-BR" dirty="0"/>
              <a:t>o volume da  produção  total (crescimento  econômico),</a:t>
            </a:r>
            <a:r>
              <a:rPr lang="en-US" altLang="pt-BR" dirty="0"/>
              <a:t> </a:t>
            </a:r>
            <a:r>
              <a:rPr lang="pt-BR" altLang="pt-BR" dirty="0"/>
              <a:t>o nível de emprego e o nível geral de preços (Inflação) do</a:t>
            </a:r>
            <a:r>
              <a:rPr lang="en-US" altLang="pt-BR" dirty="0"/>
              <a:t> </a:t>
            </a:r>
            <a:r>
              <a:rPr lang="pt-BR" altLang="pt-BR" dirty="0"/>
              <a:t>sistema econômico,  bem  como  a  inserção do mesmo na</a:t>
            </a:r>
            <a:r>
              <a:rPr lang="en-US" altLang="pt-BR" dirty="0"/>
              <a:t> </a:t>
            </a:r>
            <a:r>
              <a:rPr lang="pt-BR" altLang="pt-BR" dirty="0"/>
              <a:t>economia mundial.</a:t>
            </a:r>
            <a:endParaRPr lang="en-US" altLang="pt-BR" dirty="0"/>
          </a:p>
        </p:txBody>
      </p:sp>
      <p:sp>
        <p:nvSpPr>
          <p:cNvPr id="71684" name="Rectangle 3075">
            <a:extLst>
              <a:ext uri="{FF2B5EF4-FFF2-40B4-BE49-F238E27FC236}">
                <a16:creationId xmlns:a16="http://schemas.microsoft.com/office/drawing/2014/main" id="{06DD0442-0E9F-47C8-BA63-E0DB16AC4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914400"/>
            <a:ext cx="53435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pt-BR" altLang="pt-BR" sz="3200" b="1">
                <a:solidFill>
                  <a:srgbClr val="FF3300"/>
                </a:solidFill>
              </a:rPr>
              <a:t>Divisão do Estudo Econômico</a:t>
            </a:r>
            <a:endParaRPr lang="en-US" altLang="pt-BR" sz="3200" b="1">
              <a:solidFill>
                <a:srgbClr val="FF3300"/>
              </a:solidFill>
            </a:endParaRPr>
          </a:p>
        </p:txBody>
      </p:sp>
    </p:spTree>
  </p:cSld>
  <p:clrMapOvr>
    <a:masterClrMapping/>
  </p:clrMapOvr>
  <p:transition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ço Reservado para Número de Slide 3">
            <a:extLst>
              <a:ext uri="{FF2B5EF4-FFF2-40B4-BE49-F238E27FC236}">
                <a16:creationId xmlns:a16="http://schemas.microsoft.com/office/drawing/2014/main" id="{A05155DE-A3DF-4921-B5F2-4CCA79F0A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93D90632-F7FF-4DFB-99A2-1A8122E758E3}" type="slidenum">
              <a:rPr lang="pt-BR" altLang="pt-BR" sz="1400">
                <a:solidFill>
                  <a:schemeClr val="bg1"/>
                </a:solidFill>
              </a:rPr>
              <a:pPr eaLnBrk="1" hangingPunct="1"/>
              <a:t>7</a:t>
            </a:fld>
            <a:endParaRPr lang="pt-BR" altLang="pt-BR" sz="1400">
              <a:solidFill>
                <a:schemeClr val="bg1"/>
              </a:solidFill>
            </a:endParaRPr>
          </a:p>
        </p:txBody>
      </p:sp>
      <p:sp>
        <p:nvSpPr>
          <p:cNvPr id="72707" name="Rectangle 3074">
            <a:extLst>
              <a:ext uri="{FF2B5EF4-FFF2-40B4-BE49-F238E27FC236}">
                <a16:creationId xmlns:a16="http://schemas.microsoft.com/office/drawing/2014/main" id="{B1915EF7-E0BA-431E-9A76-1DD0E170C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914400"/>
            <a:ext cx="53435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pt-BR" altLang="pt-BR" sz="3200" b="1">
                <a:solidFill>
                  <a:srgbClr val="FF3300"/>
                </a:solidFill>
              </a:rPr>
              <a:t>Divisão do Estudo Econômico</a:t>
            </a:r>
            <a:endParaRPr lang="en-US" altLang="pt-BR" sz="3200" b="1">
              <a:solidFill>
                <a:srgbClr val="FF3300"/>
              </a:solidFill>
            </a:endParaRPr>
          </a:p>
        </p:txBody>
      </p:sp>
      <p:sp>
        <p:nvSpPr>
          <p:cNvPr id="72708" name="Rectangle 3075">
            <a:extLst>
              <a:ext uri="{FF2B5EF4-FFF2-40B4-BE49-F238E27FC236}">
                <a16:creationId xmlns:a16="http://schemas.microsoft.com/office/drawing/2014/main" id="{F164E8DE-409A-462F-AE06-A23D86B5F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00" y="2039938"/>
            <a:ext cx="8636000" cy="222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/>
            <a:r>
              <a:rPr lang="pt-BR" altLang="pt-BR" b="1" dirty="0"/>
              <a:t>Desenvolvimento Econômico</a:t>
            </a:r>
            <a:r>
              <a:rPr lang="en-US" altLang="pt-BR" b="1" dirty="0"/>
              <a:t>: </a:t>
            </a:r>
            <a:r>
              <a:rPr lang="pt-BR" altLang="pt-BR" dirty="0"/>
              <a:t>estuda modelos de</a:t>
            </a:r>
            <a:r>
              <a:rPr lang="en-US" altLang="pt-BR" dirty="0"/>
              <a:t> </a:t>
            </a:r>
            <a:r>
              <a:rPr lang="en-US" altLang="pt-BR" dirty="0" err="1"/>
              <a:t>desenvolvimento</a:t>
            </a:r>
            <a:r>
              <a:rPr lang="pt-BR" altLang="pt-BR" dirty="0"/>
              <a:t> que levem à elevação do padrão de vida (bem</a:t>
            </a:r>
            <a:r>
              <a:rPr lang="en-US" altLang="pt-BR" dirty="0"/>
              <a:t> </a:t>
            </a:r>
            <a:r>
              <a:rPr lang="pt-BR" altLang="pt-BR" dirty="0"/>
              <a:t>estar) da coletividade. Questões estruturais, de longo prazo</a:t>
            </a:r>
            <a:r>
              <a:rPr lang="en-US" altLang="pt-BR" dirty="0"/>
              <a:t> </a:t>
            </a:r>
            <a:r>
              <a:rPr lang="pt-BR" altLang="pt-BR" dirty="0"/>
              <a:t>(crescimento da  renda  </a:t>
            </a:r>
            <a:r>
              <a:rPr lang="pt-BR" altLang="pt-BR" i="1" dirty="0"/>
              <a:t>per capita</a:t>
            </a:r>
            <a:r>
              <a:rPr lang="pt-BR" altLang="pt-BR" dirty="0"/>
              <a:t>,  distribuição  de  renda, evolução tecnológica).  </a:t>
            </a:r>
            <a:endParaRPr lang="en-US" altLang="pt-BR" dirty="0"/>
          </a:p>
        </p:txBody>
      </p:sp>
      <p:sp>
        <p:nvSpPr>
          <p:cNvPr id="72709" name="Text Box 3076">
            <a:extLst>
              <a:ext uri="{FF2B5EF4-FFF2-40B4-BE49-F238E27FC236}">
                <a16:creationId xmlns:a16="http://schemas.microsoft.com/office/drawing/2014/main" id="{BFFE4CE4-E561-4C26-B587-523AB4448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188" y="4448175"/>
            <a:ext cx="8609012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/>
            <a:r>
              <a:rPr lang="pt-BR" altLang="pt-BR" b="1" dirty="0"/>
              <a:t>Economia Internacional</a:t>
            </a:r>
            <a:r>
              <a:rPr lang="en-US" altLang="pt-BR" b="1" dirty="0"/>
              <a:t>:</a:t>
            </a:r>
            <a:r>
              <a:rPr lang="pt-BR" altLang="pt-BR" dirty="0"/>
              <a:t> estuda as relações de troca entre</a:t>
            </a:r>
            <a:r>
              <a:rPr lang="en-US" altLang="pt-BR" dirty="0"/>
              <a:t> </a:t>
            </a:r>
            <a:r>
              <a:rPr lang="pt-BR" altLang="pt-BR" dirty="0"/>
              <a:t>países (transações de bens e serviços e transações</a:t>
            </a:r>
            <a:r>
              <a:rPr lang="en-US" altLang="pt-BR" dirty="0"/>
              <a:t> </a:t>
            </a:r>
            <a:r>
              <a:rPr lang="pt-BR" altLang="pt-BR" dirty="0"/>
              <a:t>monetárias). Trata-se da determinação da taxa de  câmbio, do  comércio exterior e das relações financeiras</a:t>
            </a:r>
            <a:r>
              <a:rPr lang="en-US" altLang="pt-BR" dirty="0"/>
              <a:t>  </a:t>
            </a:r>
            <a:r>
              <a:rPr lang="en-US" altLang="pt-BR" dirty="0" err="1"/>
              <a:t>i</a:t>
            </a:r>
            <a:r>
              <a:rPr lang="pt-BR" altLang="pt-BR" dirty="0" err="1"/>
              <a:t>nternacionais</a:t>
            </a:r>
            <a:r>
              <a:rPr lang="pt-BR" altLang="pt-BR" dirty="0"/>
              <a:t>.</a:t>
            </a:r>
            <a:endParaRPr lang="en-US" altLang="pt-BR" dirty="0"/>
          </a:p>
        </p:txBody>
      </p:sp>
    </p:spTree>
  </p:cSld>
  <p:clrMapOvr>
    <a:masterClrMapping/>
  </p:clrMapOvr>
  <p:transition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11560" y="1340768"/>
            <a:ext cx="7632848" cy="3486249"/>
          </a:xfrm>
        </p:spPr>
        <p:txBody>
          <a:bodyPr>
            <a:noAutofit/>
          </a:bodyPr>
          <a:lstStyle/>
          <a:p>
            <a:pPr algn="l"/>
            <a:r>
              <a:rPr lang="pt-BR" sz="25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  estudo  da  Teoria  Econômica, divide-se</a:t>
            </a:r>
            <a:br>
              <a:rPr lang="pt-BR" sz="25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pt-BR" sz="25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em duas grandes áreas: </a:t>
            </a:r>
            <a:br>
              <a:rPr lang="pt-BR" sz="25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pt-BR" sz="25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br>
              <a:rPr lang="pt-BR" sz="25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pt-BR" sz="25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Teoria                        </a:t>
            </a:r>
            <a:r>
              <a:rPr lang="pt-BR" sz="2500" b="1" dirty="0" err="1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Teoria</a:t>
            </a:r>
            <a:br>
              <a:rPr lang="pt-BR" sz="25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pt-BR" sz="25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Microeconômica           Macroeconômica</a:t>
            </a:r>
            <a:br>
              <a:rPr lang="pt-BR" sz="25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endParaRPr lang="pt-BR" sz="25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463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2928922" y="260648"/>
            <a:ext cx="3206712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500" b="1" dirty="0"/>
              <a:t>Microeconomia</a:t>
            </a:r>
          </a:p>
        </p:txBody>
      </p:sp>
      <p:cxnSp>
        <p:nvCxnSpPr>
          <p:cNvPr id="10" name="Conector reto 9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/>
          <p:cNvSpPr txBox="1"/>
          <p:nvPr/>
        </p:nvSpPr>
        <p:spPr>
          <a:xfrm>
            <a:off x="-35496" y="2082477"/>
            <a:ext cx="8927976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5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MACROECONOMIA: </a:t>
            </a:r>
          </a:p>
          <a:p>
            <a:pPr algn="just"/>
            <a:endParaRPr lang="pt-BR" sz="2500" b="1" dirty="0">
              <a:solidFill>
                <a:srgbClr val="0D0D0D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pt-BR" sz="2500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Estuda   o    comportamento da economia como um todo.</a:t>
            </a:r>
            <a:endParaRPr lang="pt-BR" sz="25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pt-BR" sz="2500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pt-BR" sz="25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pt-BR" sz="2500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• Estuda  o  que  determina  e  o  que modifica o        comportamento  de  variáveis agregadas tais como a  produção  total de bens e serviços, as taxas  de  inflação  e de desemprego, o volume total  de  poupança, as despesas totais de consumo, as despesas totais de investimentos, as despesas totais  do governo etc. EX: PIB do Brasil</a:t>
            </a:r>
            <a:endParaRPr lang="pt-BR" sz="25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pt-BR" sz="25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92595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2928922" y="260648"/>
            <a:ext cx="3206712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500" b="1" dirty="0"/>
              <a:t>Microeconomia</a:t>
            </a:r>
          </a:p>
        </p:txBody>
      </p:sp>
      <p:cxnSp>
        <p:nvCxnSpPr>
          <p:cNvPr id="10" name="Conector reto 9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/>
          <p:cNvSpPr txBox="1"/>
          <p:nvPr/>
        </p:nvSpPr>
        <p:spPr>
          <a:xfrm>
            <a:off x="175794" y="2082477"/>
            <a:ext cx="8712968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MICROECONOMIA: </a:t>
            </a:r>
          </a:p>
          <a:p>
            <a:pPr algn="just"/>
            <a:endParaRPr lang="pt-BR" sz="2400" b="1" dirty="0">
              <a:solidFill>
                <a:srgbClr val="0D0D0D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pt-BR" sz="2400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preocupa-se em explicar  o  comportamento  econômico  das  unidades   individuais  de  decisão representados pelos  consumidores, pelas  empresas e pelos proprietários de recursos produtivos.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pt-BR" sz="25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11393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2928922" y="260648"/>
            <a:ext cx="3206712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500" b="1" dirty="0"/>
              <a:t>Microeconomia</a:t>
            </a:r>
          </a:p>
        </p:txBody>
      </p:sp>
      <p:cxnSp>
        <p:nvCxnSpPr>
          <p:cNvPr id="10" name="Conector reto 9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/>
          <p:cNvSpPr txBox="1"/>
          <p:nvPr/>
        </p:nvSpPr>
        <p:spPr>
          <a:xfrm>
            <a:off x="751858" y="1988840"/>
            <a:ext cx="756084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500" b="1" dirty="0">
                <a:latin typeface="+mj-lt"/>
              </a:rPr>
              <a:t>Microeconomia ou Teoria de Preços:</a:t>
            </a:r>
          </a:p>
          <a:p>
            <a:pPr algn="just"/>
            <a:endParaRPr lang="pt-BR" sz="2500" dirty="0">
              <a:latin typeface="+mj-lt"/>
            </a:endParaRPr>
          </a:p>
          <a:p>
            <a:pPr algn="just"/>
            <a:r>
              <a:rPr lang="pt-BR" sz="2500" dirty="0">
                <a:latin typeface="+mj-lt"/>
              </a:rPr>
              <a:t>Estuda o processo de formação de preços e o funcionamento dos mercados.</a:t>
            </a:r>
          </a:p>
          <a:p>
            <a:pPr algn="just"/>
            <a:endParaRPr lang="pt-BR" sz="2500" dirty="0">
              <a:latin typeface="+mj-lt"/>
            </a:endParaRPr>
          </a:p>
          <a:p>
            <a:pPr algn="just"/>
            <a:r>
              <a:rPr lang="pt-BR" sz="2500" dirty="0">
                <a:latin typeface="+mj-lt"/>
              </a:rPr>
              <a:t>Ênfase no estudo do comportamento dos agentes econômicos individuais, consumidores e firmas, e de como esses agentes interagem no mercado.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3609269" y="260648"/>
            <a:ext cx="1846019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500" b="1" dirty="0"/>
              <a:t>Mercado</a:t>
            </a:r>
          </a:p>
        </p:txBody>
      </p:sp>
      <p:cxnSp>
        <p:nvCxnSpPr>
          <p:cNvPr id="10" name="Conector reto 9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/>
          <p:cNvSpPr txBox="1"/>
          <p:nvPr/>
        </p:nvSpPr>
        <p:spPr>
          <a:xfrm>
            <a:off x="971600" y="2254513"/>
            <a:ext cx="7560840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 dirty="0">
                <a:latin typeface="+mj-lt"/>
              </a:rPr>
              <a:t>Mas afinal, o que é mercado???</a:t>
            </a:r>
          </a:p>
          <a:p>
            <a:endParaRPr lang="pt-BR" sz="2500" b="1" dirty="0">
              <a:latin typeface="+mj-lt"/>
            </a:endParaRPr>
          </a:p>
          <a:p>
            <a:r>
              <a:rPr lang="pt-BR" sz="2500" dirty="0">
                <a:latin typeface="+mj-lt"/>
              </a:rPr>
              <a:t>Um grupo de compradores e vendedores de um particular bem ou serviço.</a:t>
            </a:r>
          </a:p>
          <a:p>
            <a:endParaRPr lang="pt-BR" sz="2500" dirty="0">
              <a:latin typeface="+mj-lt"/>
            </a:endParaRPr>
          </a:p>
          <a:p>
            <a:r>
              <a:rPr lang="pt-BR" sz="2500" dirty="0">
                <a:latin typeface="+mj-lt"/>
              </a:rPr>
              <a:t>Compradores determinam a demanda e vendedores determinam a oferta.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2434337" y="260648"/>
            <a:ext cx="419589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500" b="1" dirty="0"/>
              <a:t>Concorrência Perfeita</a:t>
            </a:r>
          </a:p>
        </p:txBody>
      </p:sp>
      <p:cxnSp>
        <p:nvCxnSpPr>
          <p:cNvPr id="10" name="Conector reto 9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/>
          <p:cNvSpPr txBox="1"/>
          <p:nvPr/>
        </p:nvSpPr>
        <p:spPr>
          <a:xfrm>
            <a:off x="971600" y="1411029"/>
            <a:ext cx="7560840" cy="4632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dirty="0">
                <a:latin typeface="+mj-lt"/>
              </a:rPr>
              <a:t>Os mercados assumem diferentes estruturas.</a:t>
            </a:r>
          </a:p>
          <a:p>
            <a:endParaRPr lang="pt-BR" sz="1500" dirty="0">
              <a:latin typeface="+mj-lt"/>
            </a:endParaRPr>
          </a:p>
          <a:p>
            <a:r>
              <a:rPr lang="pt-BR" sz="2500" dirty="0">
                <a:latin typeface="+mj-lt"/>
              </a:rPr>
              <a:t>Trataremos de tais discussões sobre as diversas estruturas de mercado mais a frente.</a:t>
            </a:r>
          </a:p>
          <a:p>
            <a:endParaRPr lang="pt-BR" sz="1500" dirty="0">
              <a:latin typeface="+mj-lt"/>
            </a:endParaRPr>
          </a:p>
          <a:p>
            <a:r>
              <a:rPr lang="pt-BR" sz="2500" dirty="0">
                <a:latin typeface="+mj-lt"/>
              </a:rPr>
              <a:t>Inicialmente, lidaremos com as forças de oferta e demanda em mercados perfeitamente competitivos (</a:t>
            </a:r>
            <a:r>
              <a:rPr lang="pt-BR" sz="2500" b="1" dirty="0">
                <a:latin typeface="+mj-lt"/>
              </a:rPr>
              <a:t>concorrência perfeita</a:t>
            </a:r>
            <a:r>
              <a:rPr lang="pt-BR" sz="2500" dirty="0">
                <a:latin typeface="+mj-lt"/>
              </a:rPr>
              <a:t>).</a:t>
            </a:r>
          </a:p>
          <a:p>
            <a:endParaRPr lang="pt-BR" sz="1500" dirty="0">
              <a:latin typeface="+mj-lt"/>
            </a:endParaRPr>
          </a:p>
          <a:p>
            <a:r>
              <a:rPr lang="pt-BR" sz="2500" b="1" dirty="0">
                <a:latin typeface="+mj-lt"/>
              </a:rPr>
              <a:t>Concorrência perfeita</a:t>
            </a:r>
            <a:r>
              <a:rPr lang="pt-BR" sz="2500" dirty="0">
                <a:latin typeface="+mj-lt"/>
              </a:rPr>
              <a:t>: tipo de mercado em que há grande número de vendedores (empresas), de tal sorte que uma empresa, isoladamente, não altera a oferta de mercado nem, consequentemente, o preço de equilíbrio.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2933762" y="260648"/>
            <a:ext cx="3197030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500" b="1" dirty="0" err="1"/>
              <a:t>Coeteris</a:t>
            </a:r>
            <a:r>
              <a:rPr lang="pt-BR" sz="3500" b="1" dirty="0"/>
              <a:t> </a:t>
            </a:r>
            <a:r>
              <a:rPr lang="pt-BR" sz="3500" b="1" dirty="0" err="1"/>
              <a:t>Paribus</a:t>
            </a:r>
            <a:endParaRPr lang="pt-BR" sz="3500" b="1" dirty="0"/>
          </a:p>
        </p:txBody>
      </p:sp>
      <p:cxnSp>
        <p:nvCxnSpPr>
          <p:cNvPr id="10" name="Conector reto 9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899592" y="1628800"/>
            <a:ext cx="7704856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dirty="0"/>
              <a:t>Para analisar um mercado específico, a Microeconomia se vale da hipótese:</a:t>
            </a:r>
          </a:p>
          <a:p>
            <a:endParaRPr lang="pt-BR" sz="2500" dirty="0">
              <a:latin typeface="+mj-lt"/>
            </a:endParaRPr>
          </a:p>
          <a:p>
            <a:pPr algn="ctr"/>
            <a:r>
              <a:rPr lang="pt-BR" sz="2500" dirty="0">
                <a:latin typeface="+mj-lt"/>
              </a:rPr>
              <a:t>tudo o mais constante</a:t>
            </a:r>
          </a:p>
          <a:p>
            <a:pPr algn="ctr"/>
            <a:r>
              <a:rPr lang="pt-BR" sz="2500" dirty="0">
                <a:latin typeface="+mj-lt"/>
              </a:rPr>
              <a:t>(em latim, </a:t>
            </a:r>
            <a:r>
              <a:rPr lang="pt-BR" sz="2500" b="1" dirty="0" err="1">
                <a:latin typeface="+mj-lt"/>
              </a:rPr>
              <a:t>coeteris</a:t>
            </a:r>
            <a:r>
              <a:rPr lang="pt-BR" sz="2500" b="1" dirty="0">
                <a:latin typeface="+mj-lt"/>
              </a:rPr>
              <a:t> </a:t>
            </a:r>
            <a:r>
              <a:rPr lang="pt-BR" sz="2500" b="1" dirty="0" err="1">
                <a:latin typeface="+mj-lt"/>
              </a:rPr>
              <a:t>paribus</a:t>
            </a:r>
            <a:r>
              <a:rPr lang="pt-BR" sz="2500" dirty="0">
                <a:latin typeface="+mj-lt"/>
              </a:rPr>
              <a:t>)</a:t>
            </a:r>
          </a:p>
          <a:p>
            <a:pPr algn="ctr"/>
            <a:endParaRPr lang="pt-BR" sz="2500" dirty="0">
              <a:latin typeface="+mj-lt"/>
            </a:endParaRPr>
          </a:p>
          <a:p>
            <a:r>
              <a:rPr lang="pt-BR" sz="2500" dirty="0">
                <a:latin typeface="+mj-lt"/>
              </a:rPr>
              <a:t>O foco de estudo é dirigido apenas àquele mercado e a análise do papel que a oferta e a demanda nele exercem, supondo que outras variáveis interfiram pouco ou que não interfiram de maneira absoluta.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1974528" y="260648"/>
            <a:ext cx="511550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500" b="1" dirty="0"/>
              <a:t>Principio da Racionalidade</a:t>
            </a:r>
          </a:p>
        </p:txBody>
      </p:sp>
      <p:cxnSp>
        <p:nvCxnSpPr>
          <p:cNvPr id="10" name="Conector reto 9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971600" y="2047488"/>
            <a:ext cx="770485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latin typeface="+mj-lt"/>
              </a:rPr>
              <a:t>O princípio da racionalidade é muito aplicado na teoria microeconômica tradicional.</a:t>
            </a:r>
          </a:p>
          <a:p>
            <a:endParaRPr lang="pt-BR" sz="2800" dirty="0">
              <a:latin typeface="+mj-lt"/>
            </a:endParaRPr>
          </a:p>
          <a:p>
            <a:r>
              <a:rPr lang="pt-BR" sz="2800" dirty="0">
                <a:latin typeface="+mj-lt"/>
              </a:rPr>
              <a:t>Uma pessoa racional faz o máximo para alcançar seus objetivos, conforme as oportunidades disponíveis.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1974528" y="260648"/>
            <a:ext cx="511550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500" b="1" dirty="0"/>
              <a:t>Principio da Racionalidade</a:t>
            </a:r>
          </a:p>
        </p:txBody>
      </p:sp>
      <p:cxnSp>
        <p:nvCxnSpPr>
          <p:cNvPr id="10" name="Conector reto 9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971600" y="1831464"/>
            <a:ext cx="770485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latin typeface="+mj-lt"/>
              </a:rPr>
              <a:t>Por esse princípio, os empresários tentam sempre maximizar lucros, estando condicionados pelos custos de produção.</a:t>
            </a:r>
          </a:p>
          <a:p>
            <a:endParaRPr lang="pt-BR" sz="2800" dirty="0">
              <a:latin typeface="+mj-lt"/>
            </a:endParaRPr>
          </a:p>
          <a:p>
            <a:r>
              <a:rPr lang="pt-BR" sz="2800" dirty="0">
                <a:latin typeface="+mj-lt"/>
              </a:rPr>
              <a:t>Os consumidores procuram maximizar sua satisfação (ou utilidade) no consumo de bens e serviços (limitados por sua renda e pelos preços das mercadorias).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2264030" y="260648"/>
            <a:ext cx="4536498" cy="11849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6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BENS E SERVIÇOS </a:t>
            </a:r>
            <a:endParaRPr lang="pt-BR" sz="36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/>
            <a:endParaRPr lang="pt-BR" sz="3500" b="1" dirty="0"/>
          </a:p>
        </p:txBody>
      </p:sp>
      <p:cxnSp>
        <p:nvCxnSpPr>
          <p:cNvPr id="10" name="Conector reto 9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179512" y="2003356"/>
            <a:ext cx="87849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OS RECURSOS PRODUTIVOS são   insuficientes   para produzir o volume de bens e  serviços  necessários  para  satisfazer  as necessidades de todas as pessoas.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pt-BR" sz="24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endParaRPr lang="pt-B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45986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2264030" y="260648"/>
            <a:ext cx="4536498" cy="11849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6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BENS E SERVIÇOS </a:t>
            </a:r>
            <a:endParaRPr lang="pt-BR" sz="36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/>
            <a:endParaRPr lang="pt-BR" sz="3500" b="1" dirty="0"/>
          </a:p>
        </p:txBody>
      </p:sp>
      <p:cxnSp>
        <p:nvCxnSpPr>
          <p:cNvPr id="10" name="Conector reto 9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179512" y="980728"/>
            <a:ext cx="8784976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BENS E SERVIÇOS 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pt-BR" sz="24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pt-BR" sz="24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</a:t>
            </a:r>
            <a:r>
              <a:rPr lang="pt-BR" sz="24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BEM:  é  tudo  aquilo   que   satisfaz   direta   ou    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pt-BR" sz="24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indiretamente  os   desejos  e   necessidades  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pt-BR" sz="24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           dos seres humanos.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pt-BR" sz="24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pt-BR" sz="24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</a:t>
            </a:r>
            <a:r>
              <a:rPr lang="pt-BR" sz="24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TIPOS DE BENS:  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pt-BR" sz="24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pt-BR" sz="24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Bens  Livres:    são  aqueles  que  existem   em quantidades ilimitadas, são abundantes, e  podem ser  obtidos  com  pouco  ou  nenhum esforço                   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pt-BR" sz="24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                   humano. 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pt-BR" sz="24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Ex.   O  ar,  o   mar,  a   luz   solar  satisfazem       necessidades, mas sua utilização não implica  em relações de ordem econômica. 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pt-BR" sz="24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endParaRPr lang="pt-B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2909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2264030" y="260648"/>
            <a:ext cx="4536498" cy="11849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6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BENS E SERVIÇOS </a:t>
            </a:r>
            <a:endParaRPr lang="pt-BR" sz="36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/>
            <a:endParaRPr lang="pt-BR" sz="3500" b="1" dirty="0"/>
          </a:p>
        </p:txBody>
      </p:sp>
      <p:cxnSp>
        <p:nvCxnSpPr>
          <p:cNvPr id="10" name="Conector reto 9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179512" y="980728"/>
            <a:ext cx="8496944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BENS E SERVIÇOS 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pt-BR" sz="24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pt-BR" sz="24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Bens Econômicos: são relativamente escassos e supõem a ocorrência de esforço humano na sua  obtenção. É o objeto de estudo da economia. </a:t>
            </a:r>
          </a:p>
          <a:p>
            <a:pPr marL="342900" indent="-342900" algn="just">
              <a:buFont typeface="Symbol" panose="05050102010706020507" pitchFamily="18" charset="2"/>
              <a:buChar char=""/>
            </a:pP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pt-BR" sz="24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. bens materiais:  bens  de consumo,  bens  de capital.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pt-BR" sz="24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. bens imateriais:  serviços.</a:t>
            </a:r>
          </a:p>
          <a:p>
            <a:pPr algn="just"/>
            <a:endParaRPr lang="pt-BR" sz="2400" b="1" dirty="0">
              <a:solidFill>
                <a:srgbClr val="0D0D0D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pt-BR" sz="24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.bens privados</a:t>
            </a:r>
          </a:p>
          <a:p>
            <a:pPr algn="just"/>
            <a:r>
              <a:rPr lang="pt-BR" sz="2400" b="1" dirty="0">
                <a:solidFill>
                  <a:srgbClr val="0D0D0D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.bens públicos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pt-BR" sz="1800" b="1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</a:t>
            </a:r>
            <a:endParaRPr lang="pt-B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41713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Conector reto 9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/>
          <p:cNvSpPr txBox="1"/>
          <p:nvPr/>
        </p:nvSpPr>
        <p:spPr>
          <a:xfrm>
            <a:off x="2583223" y="260648"/>
            <a:ext cx="389811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000" b="1" dirty="0"/>
              <a:t>Definições Importantes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971600" y="1556792"/>
            <a:ext cx="7704856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 dirty="0">
                <a:latin typeface="+mj-lt"/>
              </a:rPr>
              <a:t>Bens de capital</a:t>
            </a:r>
            <a:r>
              <a:rPr lang="pt-BR" sz="2500" dirty="0">
                <a:latin typeface="+mj-lt"/>
              </a:rPr>
              <a:t>: são utilizados na fabricação de outros bens, mas não se desgastam totalmente no processo produtivo.</a:t>
            </a:r>
          </a:p>
          <a:p>
            <a:r>
              <a:rPr lang="pt-BR" sz="2500" dirty="0">
                <a:latin typeface="+mj-lt"/>
              </a:rPr>
              <a:t>Ex.: máquinas, equipamentos e instalações</a:t>
            </a:r>
          </a:p>
          <a:p>
            <a:endParaRPr lang="pt-BR" sz="2500" dirty="0">
              <a:latin typeface="+mj-lt"/>
            </a:endParaRPr>
          </a:p>
          <a:p>
            <a:r>
              <a:rPr lang="pt-BR" sz="2500" b="1" dirty="0">
                <a:latin typeface="+mj-lt"/>
              </a:rPr>
              <a:t>Bens de consumo</a:t>
            </a:r>
            <a:r>
              <a:rPr lang="pt-BR" sz="2500" dirty="0">
                <a:latin typeface="+mj-lt"/>
              </a:rPr>
              <a:t>: destinam-se diretamente ao atendimento das necessidades humanas.</a:t>
            </a:r>
          </a:p>
          <a:p>
            <a:endParaRPr lang="pt-BR" sz="2500" dirty="0">
              <a:latin typeface="+mj-lt"/>
            </a:endParaRPr>
          </a:p>
          <a:p>
            <a:pPr marL="360000" indent="-457200"/>
            <a:r>
              <a:rPr lang="pt-BR" sz="2500" dirty="0">
                <a:latin typeface="+mj-lt"/>
              </a:rPr>
              <a:t>	- duráveis: automóveis, celulares, geladeiras</a:t>
            </a:r>
          </a:p>
          <a:p>
            <a:pPr marL="360000" indent="-457200"/>
            <a:r>
              <a:rPr lang="pt-BR" sz="2500" dirty="0">
                <a:latin typeface="+mj-lt"/>
              </a:rPr>
              <a:t>	- não duráveis:  alimentos</a:t>
            </a:r>
          </a:p>
        </p:txBody>
      </p:sp>
    </p:spTree>
    <p:extLst>
      <p:ext uri="{BB962C8B-B14F-4D97-AF65-F5344CB8AC3E}">
        <p14:creationId xmlns:p14="http://schemas.microsoft.com/office/powerpoint/2010/main" val="10618616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Conector reto 9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/>
          <p:cNvSpPr txBox="1"/>
          <p:nvPr/>
        </p:nvSpPr>
        <p:spPr>
          <a:xfrm>
            <a:off x="2583223" y="260648"/>
            <a:ext cx="389811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000" b="1" dirty="0"/>
              <a:t>Definições Importantes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971600" y="1556792"/>
            <a:ext cx="770485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 dirty="0">
                <a:latin typeface="+mj-lt"/>
              </a:rPr>
              <a:t>Bens Intermediários</a:t>
            </a:r>
            <a:r>
              <a:rPr lang="pt-BR" sz="2500" dirty="0">
                <a:latin typeface="+mj-lt"/>
              </a:rPr>
              <a:t>: são transformados ou agregados na produção de outros bens e são consumidos totalmente no processo produtivo.</a:t>
            </a:r>
          </a:p>
          <a:p>
            <a:r>
              <a:rPr lang="pt-BR" sz="2500" dirty="0">
                <a:latin typeface="+mj-lt"/>
              </a:rPr>
              <a:t>Ex.: aço</a:t>
            </a:r>
          </a:p>
          <a:p>
            <a:endParaRPr lang="pt-BR" sz="2500" dirty="0">
              <a:latin typeface="+mj-lt"/>
            </a:endParaRPr>
          </a:p>
          <a:p>
            <a:r>
              <a:rPr lang="pt-BR" sz="2500" b="1" dirty="0">
                <a:latin typeface="+mj-lt"/>
              </a:rPr>
              <a:t>Bens Finais</a:t>
            </a:r>
            <a:r>
              <a:rPr lang="pt-BR" sz="2500" dirty="0">
                <a:latin typeface="+mj-lt"/>
              </a:rPr>
              <a:t>: pronto para ser utilizado.</a:t>
            </a:r>
          </a:p>
          <a:p>
            <a:pPr marL="360000" indent="-457200"/>
            <a:endParaRPr lang="pt-BR" sz="2500" dirty="0">
              <a:latin typeface="+mj-lt"/>
            </a:endParaRPr>
          </a:p>
          <a:p>
            <a:pPr marL="360000" indent="-457200"/>
            <a:r>
              <a:rPr lang="pt-BR" sz="2500" dirty="0">
                <a:latin typeface="+mj-lt"/>
              </a:rPr>
              <a:t>	Obs.: bens de capital são bens finais e não bens intermediários, já que não são consumidos no processo produtivo.</a:t>
            </a:r>
          </a:p>
          <a:p>
            <a:endParaRPr lang="pt-BR" sz="2500" dirty="0">
              <a:latin typeface="+mj-lt"/>
            </a:endParaRPr>
          </a:p>
          <a:p>
            <a:endParaRPr lang="pt-BR" sz="25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706138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1781302" y="260648"/>
            <a:ext cx="6133474" cy="10002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SETORES  DA  ATIVIDADE  ECONÔMICA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/>
            <a:endParaRPr lang="pt-BR" sz="3500" b="1" dirty="0"/>
          </a:p>
        </p:txBody>
      </p:sp>
      <p:cxnSp>
        <p:nvCxnSpPr>
          <p:cNvPr id="10" name="Conector reto 9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0" y="2394754"/>
            <a:ext cx="9144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   atividade    econômica    concretiza-se    na   produção de ampla  gama de bens e serviços, cujo destino  é satisfação das necessidades  humanas.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pt-BR" sz="24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pt-BR" sz="24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4944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-22878" y="260648"/>
            <a:ext cx="9110314" cy="11849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6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SETORES  DA  ATIVIDADE  ECONÔMICA</a:t>
            </a:r>
            <a:endParaRPr lang="pt-BR" sz="36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/>
            <a:endParaRPr lang="pt-BR" sz="3500" b="1" dirty="0"/>
          </a:p>
        </p:txBody>
      </p:sp>
      <p:cxnSp>
        <p:nvCxnSpPr>
          <p:cNvPr id="10" name="Conector reto 9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179512" y="1773971"/>
            <a:ext cx="885698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8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sym typeface="Webdings" panose="05030102010509060703" pitchFamily="18" charset="2"/>
              </a:rPr>
              <a:t></a:t>
            </a:r>
            <a:r>
              <a:rPr lang="pt-BR" sz="18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PRODUTO  NACIONAL:   É  a  medida,  em  unidades monetárias, do fluxo total de bens e serviços finais produzidos pelo sistema econômico em determinado período.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pt-BR" sz="24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pt-BR" sz="24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 3" panose="05040102010807070707" pitchFamily="18" charset="2"/>
              </a:rPr>
              <a:t></a:t>
            </a:r>
            <a:r>
              <a:rPr lang="pt-BR" sz="24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SETOR PRIMÁRIO:</a:t>
            </a:r>
            <a:endParaRPr lang="pt-BR" sz="2400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pt-BR" sz="24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indent="-342900">
              <a:buFont typeface="Wingdings 3" panose="05040102010807070707" pitchFamily="18" charset="2"/>
              <a:buChar char="Æ"/>
            </a:pPr>
            <a:r>
              <a:rPr lang="pt-BR" sz="24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SETOR SECUNDÁRIO:</a:t>
            </a:r>
          </a:p>
          <a:p>
            <a:pPr marL="342900" indent="-342900">
              <a:buFont typeface="Wingdings 3" panose="05040102010807070707" pitchFamily="18" charset="2"/>
              <a:buChar char="Æ"/>
            </a:pPr>
            <a:endParaRPr lang="pt-BR" sz="1800" b="1" dirty="0">
              <a:solidFill>
                <a:srgbClr val="0D0D0D"/>
              </a:solidFill>
              <a:effectLst/>
              <a:latin typeface="Arial Black" panose="020B0A040201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1800" b="1" dirty="0">
                <a:solidFill>
                  <a:srgbClr val="0D0D0D"/>
                </a:solidFill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pt-BR" sz="2400" b="1" dirty="0">
              <a:solidFill>
                <a:srgbClr val="0D0D0D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indent="-342900">
              <a:buFont typeface="Wingdings 3" panose="05040102010807070707" pitchFamily="18" charset="2"/>
              <a:buChar char="Æ"/>
            </a:pPr>
            <a:r>
              <a:rPr lang="pt-BR" sz="24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SETOR TERCIÁRIO: 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pt-BR" sz="24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3226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-22878" y="260648"/>
            <a:ext cx="9110314" cy="11849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6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SETORES  DA  ATIVIDADE  ECONÔMICA</a:t>
            </a:r>
            <a:endParaRPr lang="pt-BR" sz="36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/>
            <a:endParaRPr lang="pt-BR" sz="3500" b="1" dirty="0"/>
          </a:p>
        </p:txBody>
      </p:sp>
      <p:cxnSp>
        <p:nvCxnSpPr>
          <p:cNvPr id="10" name="Conector reto 9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179512" y="1700808"/>
            <a:ext cx="8496944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pt-BR" sz="24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 3" panose="05040102010807070707" pitchFamily="18" charset="2"/>
              </a:rPr>
              <a:t></a:t>
            </a:r>
            <a:r>
              <a:rPr lang="pt-BR" sz="24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SETOR PRIMÁRIO:  abrange  as  produções  obtidas  dos  recursos  naturais: atividades agrícolas, pesqueiras,  pecuárias  e  mineração.</a:t>
            </a:r>
            <a:endParaRPr lang="pt-BR" sz="2400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pt-BR" sz="24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 3" panose="05040102010807070707" pitchFamily="18" charset="2"/>
              <a:buChar char="Æ"/>
            </a:pPr>
            <a:r>
              <a:rPr lang="pt-BR" sz="24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SETOR SECUNDÁRIO:  inclui  as atividades      industriais, onde os  bens são transformados:       laminados de </a:t>
            </a:r>
            <a:r>
              <a:rPr lang="pt-BR" sz="2400" b="1" dirty="0" err="1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metais,veículos</a:t>
            </a:r>
            <a:r>
              <a:rPr lang="pt-BR" sz="24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automotores, materiais  de   </a:t>
            </a:r>
            <a:r>
              <a:rPr lang="pt-BR" sz="2400" b="1" dirty="0" err="1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construção,produtos</a:t>
            </a:r>
            <a:r>
              <a:rPr lang="pt-BR" sz="24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químicos e farmacêuticos,</a:t>
            </a:r>
          </a:p>
          <a:p>
            <a:pPr algn="just"/>
            <a:r>
              <a:rPr lang="pt-BR" sz="24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</a:t>
            </a:r>
            <a:r>
              <a:rPr lang="pt-BR" sz="2400" b="1" dirty="0" err="1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plásticos,aparelhos</a:t>
            </a:r>
            <a:r>
              <a:rPr lang="pt-BR" sz="24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eletrodomésticos, tratores etc.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pt-BR" sz="1800" b="1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</a:t>
            </a:r>
            <a:endParaRPr lang="pt-B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58895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-22878" y="260648"/>
            <a:ext cx="9110314" cy="11849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6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SETORES  DA  ATIVIDADE  ECONÔMICA</a:t>
            </a:r>
            <a:endParaRPr lang="pt-BR" sz="36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/>
            <a:endParaRPr lang="pt-BR" sz="3500" b="1" dirty="0"/>
          </a:p>
        </p:txBody>
      </p:sp>
      <p:cxnSp>
        <p:nvCxnSpPr>
          <p:cNvPr id="10" name="Conector reto 9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71601" y="1842497"/>
            <a:ext cx="8496944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pt-BR" sz="25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SETOR TERCIÁRIO:  ou  de  serviços, reúne as atividades direcionadas a satisfazer necessidades   de   serviços   produtivos   que   não  se transformam  em  algo  material:  comércio, transporte, bancos, turismo, meios de  comunicação etc.</a:t>
            </a:r>
            <a:endParaRPr lang="pt-BR" sz="25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 3" panose="05040102010807070707" pitchFamily="18" charset="2"/>
              <a:buChar char="Æ"/>
            </a:pP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pt-BR" sz="1800" b="1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</a:t>
            </a:r>
            <a:endParaRPr lang="pt-B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7423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Conector reto 9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1038118" y="260648"/>
            <a:ext cx="698832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500" b="1" dirty="0"/>
              <a:t>Curva de possibilidades de produção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971600" y="1649700"/>
            <a:ext cx="7200800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dirty="0">
                <a:latin typeface="+mj-lt"/>
              </a:rPr>
              <a:t>- A curva de possibilidades de produção (CPP) expressa a capacidade máxima de produção da sociedade, considerando o pleno emprego dos fatores de produção em determinado período de tempo.</a:t>
            </a:r>
          </a:p>
          <a:p>
            <a:endParaRPr lang="pt-BR" sz="2500" dirty="0">
              <a:latin typeface="+mj-lt"/>
            </a:endParaRPr>
          </a:p>
          <a:p>
            <a:pPr>
              <a:buFontTx/>
              <a:buChar char="-"/>
            </a:pPr>
            <a:r>
              <a:rPr lang="pt-BR" sz="2500" dirty="0">
                <a:latin typeface="+mj-lt"/>
              </a:rPr>
              <a:t> Sociedade terá de escolher entre diferentes alternativas de produção.</a:t>
            </a:r>
          </a:p>
          <a:p>
            <a:pPr>
              <a:buFontTx/>
              <a:buChar char="-"/>
            </a:pPr>
            <a:endParaRPr lang="pt-BR" sz="2500" dirty="0">
              <a:latin typeface="+mj-lt"/>
            </a:endParaRPr>
          </a:p>
          <a:p>
            <a:r>
              <a:rPr lang="pt-BR" sz="2500" dirty="0">
                <a:latin typeface="+mj-lt"/>
              </a:rPr>
              <a:t>- Escassez de produção -&gt; limite máximo de produção</a:t>
            </a:r>
          </a:p>
          <a:p>
            <a:r>
              <a:rPr lang="pt-BR" sz="2500" dirty="0">
                <a:latin typeface="+mj-lt"/>
              </a:rPr>
              <a:t>			        (produto de pleno emprego)</a:t>
            </a:r>
          </a:p>
        </p:txBody>
      </p:sp>
    </p:spTree>
    <p:extLst>
      <p:ext uri="{BB962C8B-B14F-4D97-AF65-F5344CB8AC3E}">
        <p14:creationId xmlns:p14="http://schemas.microsoft.com/office/powerpoint/2010/main" val="17072551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Conector reto 9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1038118" y="260648"/>
            <a:ext cx="698832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500" b="1" dirty="0"/>
              <a:t>Curva de possibilidades de produção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1115616" y="1511786"/>
            <a:ext cx="676875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dirty="0">
                <a:latin typeface="+mj-lt"/>
              </a:rPr>
              <a:t>Possibilidades de produção</a:t>
            </a:r>
          </a:p>
        </p:txBody>
      </p:sp>
      <p:graphicFrame>
        <p:nvGraphicFramePr>
          <p:cNvPr id="14" name="Tabela 13"/>
          <p:cNvGraphicFramePr>
            <a:graphicFrameLocks noGrp="1"/>
          </p:cNvGraphicFramePr>
          <p:nvPr/>
        </p:nvGraphicFramePr>
        <p:xfrm>
          <a:off x="1907704" y="2276872"/>
          <a:ext cx="6096000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Alternativas de Produção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Máquinas</a:t>
                      </a:r>
                    </a:p>
                    <a:p>
                      <a:pPr algn="ctr"/>
                      <a:r>
                        <a:rPr lang="pt-BR" sz="2000" dirty="0"/>
                        <a:t>(milhares)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Alimentos</a:t>
                      </a:r>
                    </a:p>
                    <a:p>
                      <a:pPr algn="ctr"/>
                      <a:r>
                        <a:rPr lang="pt-BR" sz="2000" dirty="0"/>
                        <a:t>(toneladas)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30,0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47,5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60,0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70,0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CaixaDeTexto 14"/>
          <p:cNvSpPr txBox="1"/>
          <p:nvPr/>
        </p:nvSpPr>
        <p:spPr>
          <a:xfrm>
            <a:off x="1187624" y="5301208"/>
            <a:ext cx="67687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dirty="0">
                <a:latin typeface="+mj-lt"/>
              </a:rPr>
              <a:t>Fonte: Adaptado de Vasconcellos e Garcia (2012)  </a:t>
            </a:r>
          </a:p>
        </p:txBody>
      </p:sp>
    </p:spTree>
    <p:extLst>
      <p:ext uri="{BB962C8B-B14F-4D97-AF65-F5344CB8AC3E}">
        <p14:creationId xmlns:p14="http://schemas.microsoft.com/office/powerpoint/2010/main" val="22178714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Conector reto 9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1038118" y="260648"/>
            <a:ext cx="698832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500" b="1" dirty="0"/>
              <a:t>Curva de possibilidades de produção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1187624" y="1367770"/>
            <a:ext cx="676875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dirty="0">
                <a:latin typeface="+mj-lt"/>
              </a:rPr>
              <a:t>Curva de possibilidade de produção (CPP)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 l="46761" t="32110" r="25014" b="26547"/>
          <a:stretch>
            <a:fillRect/>
          </a:stretch>
        </p:blipFill>
        <p:spPr bwMode="auto">
          <a:xfrm>
            <a:off x="2339752" y="1916832"/>
            <a:ext cx="4392488" cy="3617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CaixaDeTexto 11"/>
          <p:cNvSpPr txBox="1"/>
          <p:nvPr/>
        </p:nvSpPr>
        <p:spPr>
          <a:xfrm>
            <a:off x="1187624" y="5554107"/>
            <a:ext cx="67687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dirty="0">
                <a:latin typeface="+mj-lt"/>
              </a:rPr>
              <a:t>Fonte: Extraído de Vasconcellos e Garcia (2012)  </a:t>
            </a:r>
          </a:p>
        </p:txBody>
      </p:sp>
    </p:spTree>
    <p:extLst>
      <p:ext uri="{BB962C8B-B14F-4D97-AF65-F5344CB8AC3E}">
        <p14:creationId xmlns:p14="http://schemas.microsoft.com/office/powerpoint/2010/main" val="9656513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Conector reto 9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2303045" y="260648"/>
            <a:ext cx="4458465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500" b="1" dirty="0"/>
              <a:t>Custo de oportunidade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971600" y="1916832"/>
            <a:ext cx="72008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dirty="0">
                <a:latin typeface="+mj-lt"/>
              </a:rPr>
              <a:t>Produção que se deixará de produzir do bem X para se aumentar a produção do bem Y.</a:t>
            </a:r>
          </a:p>
          <a:p>
            <a:endParaRPr lang="pt-BR" sz="2500" dirty="0">
              <a:latin typeface="+mj-lt"/>
            </a:endParaRPr>
          </a:p>
          <a:p>
            <a:r>
              <a:rPr lang="pt-BR" sz="2500" dirty="0">
                <a:latin typeface="+mj-lt"/>
              </a:rPr>
              <a:t>Espera-se custos de oportunidade crescentes.</a:t>
            </a:r>
          </a:p>
          <a:p>
            <a:endParaRPr lang="pt-BR" sz="2500" dirty="0">
              <a:latin typeface="+mj-lt"/>
            </a:endParaRPr>
          </a:p>
          <a:p>
            <a:r>
              <a:rPr lang="pt-BR" sz="2500" dirty="0">
                <a:latin typeface="+mj-lt"/>
              </a:rPr>
              <a:t>Acréscimos iguais na produção de alimentos implicam em decréscimos cada vez maiores na produção de máquinas.</a:t>
            </a:r>
          </a:p>
        </p:txBody>
      </p:sp>
    </p:spTree>
    <p:extLst>
      <p:ext uri="{BB962C8B-B14F-4D97-AF65-F5344CB8AC3E}">
        <p14:creationId xmlns:p14="http://schemas.microsoft.com/office/powerpoint/2010/main" val="38465858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Conector reto 9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738265" y="260648"/>
            <a:ext cx="758803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000" b="1" dirty="0"/>
              <a:t>Funcionamento de uma economia de mercado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971600" y="1556792"/>
            <a:ext cx="7704856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dirty="0">
                <a:latin typeface="+mj-lt"/>
              </a:rPr>
              <a:t>Supondo:</a:t>
            </a:r>
          </a:p>
          <a:p>
            <a:pPr marL="360000" indent="-457200"/>
            <a:r>
              <a:rPr lang="pt-BR" sz="2500" dirty="0">
                <a:latin typeface="+mj-lt"/>
              </a:rPr>
              <a:t>	</a:t>
            </a:r>
          </a:p>
          <a:p>
            <a:pPr marL="360000" indent="-457200"/>
            <a:r>
              <a:rPr lang="pt-BR" sz="2500" dirty="0">
                <a:latin typeface="+mj-lt"/>
              </a:rPr>
              <a:t>	</a:t>
            </a:r>
            <a:r>
              <a:rPr lang="pt-BR" sz="2500" dirty="0"/>
              <a:t> - agentes econômicos: famílias e empresas </a:t>
            </a:r>
            <a:r>
              <a:rPr lang="pt-BR" sz="2500" dirty="0">
                <a:latin typeface="+mj-lt"/>
              </a:rPr>
              <a:t>	</a:t>
            </a:r>
          </a:p>
          <a:p>
            <a:pPr marL="360000" indent="-457200"/>
            <a:endParaRPr lang="pt-BR" sz="2500" dirty="0">
              <a:latin typeface="+mj-lt"/>
            </a:endParaRPr>
          </a:p>
          <a:p>
            <a:pPr marL="360000" indent="-457200"/>
            <a:r>
              <a:rPr lang="pt-BR" sz="2500" dirty="0">
                <a:latin typeface="+mj-lt"/>
              </a:rPr>
              <a:t>	- economia de mercado</a:t>
            </a:r>
          </a:p>
          <a:p>
            <a:pPr marL="360000" indent="-457200"/>
            <a:r>
              <a:rPr lang="pt-BR" sz="2500" dirty="0">
                <a:latin typeface="+mj-lt"/>
              </a:rPr>
              <a:t>		- famílias são proprietárias dos meios de produção</a:t>
            </a:r>
          </a:p>
          <a:p>
            <a:pPr marL="360000" indent="-457200"/>
            <a:r>
              <a:rPr lang="pt-BR" sz="2500" dirty="0">
                <a:latin typeface="+mj-lt"/>
              </a:rPr>
              <a:t>	</a:t>
            </a:r>
          </a:p>
          <a:p>
            <a:pPr marL="360000" indent="-457200"/>
            <a:r>
              <a:rPr lang="pt-BR" sz="2500" dirty="0"/>
              <a:t>	</a:t>
            </a:r>
            <a:r>
              <a:rPr lang="pt-BR" sz="2500" dirty="0">
                <a:latin typeface="+mj-lt"/>
              </a:rPr>
              <a:t>- ausência de interferência do governo</a:t>
            </a:r>
          </a:p>
          <a:p>
            <a:pPr marL="360000" indent="-457200"/>
            <a:r>
              <a:rPr lang="pt-BR" sz="2500" dirty="0">
                <a:latin typeface="+mj-lt"/>
              </a:rPr>
              <a:t>	</a:t>
            </a:r>
          </a:p>
          <a:p>
            <a:pPr marL="360000" indent="-457200"/>
            <a:r>
              <a:rPr lang="pt-BR" sz="2500" dirty="0">
                <a:latin typeface="+mj-lt"/>
              </a:rPr>
              <a:t>	- sem transações com o exterior</a:t>
            </a:r>
          </a:p>
        </p:txBody>
      </p:sp>
    </p:spTree>
    <p:extLst>
      <p:ext uri="{BB962C8B-B14F-4D97-AF65-F5344CB8AC3E}">
        <p14:creationId xmlns:p14="http://schemas.microsoft.com/office/powerpoint/2010/main" val="2017393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aixaDeTexto 60"/>
          <p:cNvSpPr txBox="1"/>
          <p:nvPr/>
        </p:nvSpPr>
        <p:spPr>
          <a:xfrm>
            <a:off x="7286644" y="5007130"/>
            <a:ext cx="1512169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/>
              <a:t>Fatores</a:t>
            </a:r>
          </a:p>
          <a:p>
            <a:pPr algn="ctr"/>
            <a:r>
              <a:rPr lang="pt-BR" sz="2000" b="1" dirty="0"/>
              <a:t>de Produção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357158" y="4714884"/>
            <a:ext cx="1275477" cy="101566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pt-BR" sz="2000" b="1" dirty="0"/>
              <a:t>terra,</a:t>
            </a:r>
          </a:p>
          <a:p>
            <a:pPr algn="ctr"/>
            <a:r>
              <a:rPr lang="pt-BR" sz="2000" b="1" dirty="0"/>
              <a:t>capital</a:t>
            </a:r>
          </a:p>
          <a:p>
            <a:pPr algn="ctr"/>
            <a:r>
              <a:rPr lang="pt-BR" sz="2000" b="1" dirty="0"/>
              <a:t>e trabalho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277476" y="2143116"/>
            <a:ext cx="1365566" cy="101566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pt-BR" sz="2000" b="1" dirty="0"/>
              <a:t>bens e</a:t>
            </a:r>
          </a:p>
          <a:p>
            <a:pPr algn="ctr"/>
            <a:r>
              <a:rPr lang="pt-BR" sz="2000" b="1" dirty="0"/>
              <a:t>serviços</a:t>
            </a:r>
          </a:p>
          <a:p>
            <a:pPr algn="ctr"/>
            <a:r>
              <a:rPr lang="pt-BR" sz="2000" b="1" dirty="0"/>
              <a:t>comprados</a:t>
            </a:r>
          </a:p>
        </p:txBody>
      </p:sp>
      <p:sp>
        <p:nvSpPr>
          <p:cNvPr id="59" name="CaixaDeTexto 58"/>
          <p:cNvSpPr txBox="1"/>
          <p:nvPr/>
        </p:nvSpPr>
        <p:spPr>
          <a:xfrm>
            <a:off x="7500958" y="2127585"/>
            <a:ext cx="1150508" cy="101566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pt-BR" sz="2000" b="1" dirty="0"/>
              <a:t>bens e</a:t>
            </a:r>
          </a:p>
          <a:p>
            <a:pPr algn="ctr"/>
            <a:r>
              <a:rPr lang="pt-BR" sz="2000" b="1" dirty="0"/>
              <a:t>serviços</a:t>
            </a:r>
          </a:p>
          <a:p>
            <a:pPr algn="ctr"/>
            <a:r>
              <a:rPr lang="pt-BR" sz="2000" b="1" dirty="0"/>
              <a:t>vendidos</a:t>
            </a:r>
          </a:p>
        </p:txBody>
      </p:sp>
      <p:cxnSp>
        <p:nvCxnSpPr>
          <p:cNvPr id="10" name="Conector reto 9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738265" y="260648"/>
            <a:ext cx="758803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000" b="1" dirty="0"/>
              <a:t>Funcionamento de uma economia de mercado</a:t>
            </a:r>
          </a:p>
        </p:txBody>
      </p:sp>
      <p:sp>
        <p:nvSpPr>
          <p:cNvPr id="34" name="Retângulo 33"/>
          <p:cNvSpPr/>
          <p:nvPr/>
        </p:nvSpPr>
        <p:spPr>
          <a:xfrm>
            <a:off x="395536" y="3737606"/>
            <a:ext cx="2489815" cy="4834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500" b="1" dirty="0"/>
              <a:t>Famílias</a:t>
            </a:r>
          </a:p>
        </p:txBody>
      </p:sp>
      <p:sp>
        <p:nvSpPr>
          <p:cNvPr id="36" name="Retângulo 35"/>
          <p:cNvSpPr/>
          <p:nvPr/>
        </p:nvSpPr>
        <p:spPr>
          <a:xfrm>
            <a:off x="2411760" y="2348881"/>
            <a:ext cx="4248472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500" b="1" dirty="0"/>
              <a:t>Mercado de bens e serviços</a:t>
            </a:r>
          </a:p>
        </p:txBody>
      </p:sp>
      <p:sp>
        <p:nvSpPr>
          <p:cNvPr id="38" name="Retângulo 37"/>
          <p:cNvSpPr/>
          <p:nvPr/>
        </p:nvSpPr>
        <p:spPr>
          <a:xfrm>
            <a:off x="6258649" y="3737606"/>
            <a:ext cx="2489815" cy="4834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500" b="1" dirty="0"/>
              <a:t>Empresas</a:t>
            </a:r>
          </a:p>
        </p:txBody>
      </p:sp>
      <p:cxnSp>
        <p:nvCxnSpPr>
          <p:cNvPr id="42" name="Forma 41"/>
          <p:cNvCxnSpPr>
            <a:stCxn id="36" idx="1"/>
            <a:endCxn id="34" idx="0"/>
          </p:cNvCxnSpPr>
          <p:nvPr/>
        </p:nvCxnSpPr>
        <p:spPr>
          <a:xfrm rot="10800000" flipV="1">
            <a:off x="1640444" y="2636912"/>
            <a:ext cx="771316" cy="1100693"/>
          </a:xfrm>
          <a:prstGeom prst="bentConnector2">
            <a:avLst/>
          </a:prstGeom>
          <a:ln w="2540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tângulo 48"/>
          <p:cNvSpPr/>
          <p:nvPr/>
        </p:nvSpPr>
        <p:spPr>
          <a:xfrm>
            <a:off x="2290373" y="4947597"/>
            <a:ext cx="4513875" cy="57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500" b="1" dirty="0"/>
              <a:t>Mercado de fatores de produção</a:t>
            </a:r>
          </a:p>
        </p:txBody>
      </p:sp>
      <p:cxnSp>
        <p:nvCxnSpPr>
          <p:cNvPr id="53" name="Forma 52"/>
          <p:cNvCxnSpPr>
            <a:stCxn id="34" idx="2"/>
            <a:endCxn id="49" idx="1"/>
          </p:cNvCxnSpPr>
          <p:nvPr/>
        </p:nvCxnSpPr>
        <p:spPr>
          <a:xfrm rot="16200000" flipH="1">
            <a:off x="1458154" y="4403377"/>
            <a:ext cx="1014509" cy="649929"/>
          </a:xfrm>
          <a:prstGeom prst="bentConnector2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Forma 54"/>
          <p:cNvCxnSpPr>
            <a:stCxn id="49" idx="3"/>
            <a:endCxn id="38" idx="2"/>
          </p:cNvCxnSpPr>
          <p:nvPr/>
        </p:nvCxnSpPr>
        <p:spPr>
          <a:xfrm flipV="1">
            <a:off x="6804248" y="4221088"/>
            <a:ext cx="699309" cy="1014509"/>
          </a:xfrm>
          <a:prstGeom prst="bentConnector2">
            <a:avLst/>
          </a:prstGeom>
          <a:ln w="2540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Forma 56"/>
          <p:cNvCxnSpPr>
            <a:stCxn id="38" idx="0"/>
            <a:endCxn id="36" idx="3"/>
          </p:cNvCxnSpPr>
          <p:nvPr/>
        </p:nvCxnSpPr>
        <p:spPr>
          <a:xfrm rot="16200000" flipV="1">
            <a:off x="6531549" y="2765597"/>
            <a:ext cx="1100693" cy="843325"/>
          </a:xfrm>
          <a:prstGeom prst="bentConnector2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aixaDeTexto 63"/>
          <p:cNvSpPr txBox="1"/>
          <p:nvPr/>
        </p:nvSpPr>
        <p:spPr>
          <a:xfrm>
            <a:off x="971600" y="1196752"/>
            <a:ext cx="770485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 dirty="0">
                <a:latin typeface="+mj-lt"/>
              </a:rPr>
              <a:t>Fluxo real da economia</a:t>
            </a:r>
            <a:r>
              <a:rPr lang="pt-BR" sz="2500" dirty="0">
                <a:latin typeface="+mj-lt"/>
              </a:rPr>
              <a:t>: fluxo de transações bens e serviços</a:t>
            </a:r>
          </a:p>
        </p:txBody>
      </p:sp>
    </p:spTree>
    <p:extLst>
      <p:ext uri="{BB962C8B-B14F-4D97-AF65-F5344CB8AC3E}">
        <p14:creationId xmlns:p14="http://schemas.microsoft.com/office/powerpoint/2010/main" val="11630854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Conector reto 9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738265" y="260648"/>
            <a:ext cx="758803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000" b="1" dirty="0"/>
              <a:t>Funcionamento de uma economia de mercado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971600" y="2060848"/>
            <a:ext cx="7704856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dirty="0">
                <a:latin typeface="+mj-lt"/>
              </a:rPr>
              <a:t>Entretanto, o fluxo real da economia só se torna possível com a presença de moeda, que é utilizada para o pagamento de bens e serviços e para a remuneração dos fatores de produção.</a:t>
            </a:r>
          </a:p>
          <a:p>
            <a:endParaRPr lang="pt-BR" sz="2500" dirty="0">
              <a:latin typeface="+mj-lt"/>
            </a:endParaRPr>
          </a:p>
          <a:p>
            <a:r>
              <a:rPr lang="pt-BR" sz="2500" dirty="0">
                <a:latin typeface="+mj-lt"/>
              </a:rPr>
              <a:t>Fatores de produção básicos são mão de obra, terra e capital.</a:t>
            </a:r>
          </a:p>
        </p:txBody>
      </p:sp>
    </p:spTree>
    <p:extLst>
      <p:ext uri="{BB962C8B-B14F-4D97-AF65-F5344CB8AC3E}">
        <p14:creationId xmlns:p14="http://schemas.microsoft.com/office/powerpoint/2010/main" val="19722180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Conector reto 9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738265" y="260648"/>
            <a:ext cx="758803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000" b="1" dirty="0"/>
              <a:t>Funcionamento de uma economia de mercado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971600" y="1196752"/>
            <a:ext cx="7488832" cy="478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dirty="0">
                <a:latin typeface="+mj-lt"/>
              </a:rPr>
              <a:t>A cada fator de produção corresponde uma remuneração a seu proprietário:</a:t>
            </a:r>
          </a:p>
          <a:p>
            <a:endParaRPr lang="pt-BR" sz="2000" dirty="0">
              <a:latin typeface="+mj-lt"/>
            </a:endParaRPr>
          </a:p>
          <a:p>
            <a:r>
              <a:rPr lang="pt-BR" sz="2500" dirty="0">
                <a:latin typeface="+mj-lt"/>
              </a:rPr>
              <a:t>- </a:t>
            </a:r>
            <a:r>
              <a:rPr lang="pt-BR" sz="2500" i="1" dirty="0">
                <a:latin typeface="+mj-lt"/>
              </a:rPr>
              <a:t>salário</a:t>
            </a:r>
            <a:r>
              <a:rPr lang="pt-BR" sz="2500" dirty="0">
                <a:latin typeface="+mj-lt"/>
              </a:rPr>
              <a:t>: remuneração aos proprietários do fator mão de obra;</a:t>
            </a:r>
          </a:p>
          <a:p>
            <a:endParaRPr lang="pt-BR" sz="2000" dirty="0">
              <a:latin typeface="+mj-lt"/>
            </a:endParaRPr>
          </a:p>
          <a:p>
            <a:r>
              <a:rPr lang="pt-BR" sz="2500" dirty="0">
                <a:latin typeface="+mj-lt"/>
              </a:rPr>
              <a:t>- </a:t>
            </a:r>
            <a:r>
              <a:rPr lang="pt-BR" sz="2500" i="1" dirty="0">
                <a:latin typeface="+mj-lt"/>
              </a:rPr>
              <a:t>juro</a:t>
            </a:r>
            <a:r>
              <a:rPr lang="pt-BR" sz="2500" dirty="0">
                <a:latin typeface="+mj-lt"/>
              </a:rPr>
              <a:t>: remuneração aos proprietários capital monetário;</a:t>
            </a:r>
          </a:p>
          <a:p>
            <a:endParaRPr lang="pt-BR" sz="2000" dirty="0">
              <a:latin typeface="+mj-lt"/>
            </a:endParaRPr>
          </a:p>
          <a:p>
            <a:pPr>
              <a:buFontTx/>
              <a:buChar char="-"/>
            </a:pPr>
            <a:r>
              <a:rPr lang="pt-BR" sz="2500" dirty="0">
                <a:latin typeface="+mj-lt"/>
              </a:rPr>
              <a:t> </a:t>
            </a:r>
            <a:r>
              <a:rPr lang="pt-BR" sz="2500" i="1" dirty="0">
                <a:latin typeface="+mj-lt"/>
              </a:rPr>
              <a:t>aluguel</a:t>
            </a:r>
            <a:r>
              <a:rPr lang="pt-BR" sz="2500" dirty="0">
                <a:latin typeface="+mj-lt"/>
              </a:rPr>
              <a:t>: remuneração aos proprietários do fator terra;</a:t>
            </a:r>
          </a:p>
          <a:p>
            <a:pPr>
              <a:buFontTx/>
              <a:buChar char="-"/>
            </a:pPr>
            <a:endParaRPr lang="pt-BR" sz="2000" dirty="0">
              <a:latin typeface="+mj-lt"/>
            </a:endParaRPr>
          </a:p>
          <a:p>
            <a:pPr>
              <a:buFontTx/>
              <a:buChar char="-"/>
            </a:pPr>
            <a:r>
              <a:rPr lang="pt-BR" sz="2500" dirty="0">
                <a:latin typeface="+mj-lt"/>
              </a:rPr>
              <a:t> </a:t>
            </a:r>
            <a:r>
              <a:rPr lang="pt-BR" sz="2500" i="1" dirty="0">
                <a:latin typeface="+mj-lt"/>
              </a:rPr>
              <a:t>lucro e dividendo</a:t>
            </a:r>
            <a:r>
              <a:rPr lang="pt-BR" sz="2500" dirty="0">
                <a:latin typeface="+mj-lt"/>
              </a:rPr>
              <a:t>: remuneração ao capital físico (equipamentos e prédios) e remuneração paga às famílias como proprietários de empresas.</a:t>
            </a:r>
          </a:p>
        </p:txBody>
      </p:sp>
    </p:spTree>
    <p:extLst>
      <p:ext uri="{BB962C8B-B14F-4D97-AF65-F5344CB8AC3E}">
        <p14:creationId xmlns:p14="http://schemas.microsoft.com/office/powerpoint/2010/main" val="25919771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Conector reto 9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738265" y="260648"/>
            <a:ext cx="758803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000" b="1" dirty="0"/>
              <a:t>Funcionamento de uma economia de mercado</a:t>
            </a:r>
          </a:p>
        </p:txBody>
      </p:sp>
      <p:sp>
        <p:nvSpPr>
          <p:cNvPr id="64" name="CaixaDeTexto 63"/>
          <p:cNvSpPr txBox="1"/>
          <p:nvPr/>
        </p:nvSpPr>
        <p:spPr>
          <a:xfrm>
            <a:off x="2267744" y="1367770"/>
            <a:ext cx="460851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500" b="1" dirty="0">
                <a:solidFill>
                  <a:srgbClr val="FF0000"/>
                </a:solidFill>
                <a:latin typeface="+mj-lt"/>
              </a:rPr>
              <a:t>Fluxo monetário da economia</a:t>
            </a:r>
            <a:endParaRPr lang="pt-BR" sz="25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34" name="Retângulo 33"/>
          <p:cNvSpPr/>
          <p:nvPr/>
        </p:nvSpPr>
        <p:spPr>
          <a:xfrm>
            <a:off x="395536" y="3737606"/>
            <a:ext cx="2489815" cy="4834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500" b="1" dirty="0"/>
              <a:t>Famílias</a:t>
            </a:r>
          </a:p>
        </p:txBody>
      </p:sp>
      <p:sp>
        <p:nvSpPr>
          <p:cNvPr id="38" name="Retângulo 37"/>
          <p:cNvSpPr/>
          <p:nvPr/>
        </p:nvSpPr>
        <p:spPr>
          <a:xfrm>
            <a:off x="6258649" y="3737606"/>
            <a:ext cx="2489815" cy="4834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500" b="1" dirty="0"/>
              <a:t>Empresas</a:t>
            </a:r>
          </a:p>
        </p:txBody>
      </p:sp>
      <p:cxnSp>
        <p:nvCxnSpPr>
          <p:cNvPr id="23" name="Forma 22"/>
          <p:cNvCxnSpPr>
            <a:stCxn id="38" idx="0"/>
          </p:cNvCxnSpPr>
          <p:nvPr/>
        </p:nvCxnSpPr>
        <p:spPr>
          <a:xfrm rot="16200000" flipV="1">
            <a:off x="4047272" y="281320"/>
            <a:ext cx="1028686" cy="5883885"/>
          </a:xfrm>
          <a:prstGeom prst="bentConnector2">
            <a:avLst/>
          </a:prstGeom>
          <a:ln w="25400">
            <a:solidFill>
              <a:srgbClr val="FF0000"/>
            </a:solidFill>
            <a:prstDash val="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de seta reta 42"/>
          <p:cNvCxnSpPr/>
          <p:nvPr/>
        </p:nvCxnSpPr>
        <p:spPr>
          <a:xfrm>
            <a:off x="1619672" y="2708920"/>
            <a:ext cx="0" cy="1008112"/>
          </a:xfrm>
          <a:prstGeom prst="straightConnector1">
            <a:avLst/>
          </a:prstGeom>
          <a:ln w="25400">
            <a:solidFill>
              <a:srgbClr val="FF0000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Forma 45"/>
          <p:cNvCxnSpPr/>
          <p:nvPr/>
        </p:nvCxnSpPr>
        <p:spPr>
          <a:xfrm rot="5400000" flipV="1">
            <a:off x="4047271" y="1793488"/>
            <a:ext cx="1028686" cy="5883885"/>
          </a:xfrm>
          <a:prstGeom prst="bentConnector2">
            <a:avLst/>
          </a:prstGeom>
          <a:ln w="25400">
            <a:solidFill>
              <a:srgbClr val="FF0000"/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de seta reta 46"/>
          <p:cNvCxnSpPr/>
          <p:nvPr/>
        </p:nvCxnSpPr>
        <p:spPr>
          <a:xfrm rot="10800000">
            <a:off x="7503558" y="4241660"/>
            <a:ext cx="0" cy="1008112"/>
          </a:xfrm>
          <a:prstGeom prst="straightConnector1">
            <a:avLst/>
          </a:prstGeom>
          <a:ln w="25400">
            <a:solidFill>
              <a:srgbClr val="FF0000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aixaDeTexto 49"/>
          <p:cNvSpPr txBox="1"/>
          <p:nvPr/>
        </p:nvSpPr>
        <p:spPr>
          <a:xfrm>
            <a:off x="2824501" y="2492896"/>
            <a:ext cx="3488006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pt-BR" sz="2000" b="1" dirty="0"/>
              <a:t>Pagamento dos bens e serviços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440158" y="5013176"/>
            <a:ext cx="4285020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pt-BR" sz="2000" b="1" dirty="0"/>
              <a:t>Remuneração dos fatores de produção</a:t>
            </a:r>
          </a:p>
        </p:txBody>
      </p:sp>
    </p:spTree>
    <p:extLst>
      <p:ext uri="{BB962C8B-B14F-4D97-AF65-F5344CB8AC3E}">
        <p14:creationId xmlns:p14="http://schemas.microsoft.com/office/powerpoint/2010/main" val="26521097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Conector reto 40"/>
          <p:cNvCxnSpPr/>
          <p:nvPr/>
        </p:nvCxnSpPr>
        <p:spPr>
          <a:xfrm>
            <a:off x="1907704" y="4941168"/>
            <a:ext cx="504056" cy="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/>
          <p:cNvCxnSpPr/>
          <p:nvPr/>
        </p:nvCxnSpPr>
        <p:spPr>
          <a:xfrm>
            <a:off x="6660232" y="4941168"/>
            <a:ext cx="504056" cy="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738265" y="260648"/>
            <a:ext cx="758803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000" b="1" dirty="0"/>
              <a:t>Funcionamento de uma economia de mercado</a:t>
            </a:r>
          </a:p>
        </p:txBody>
      </p:sp>
      <p:sp>
        <p:nvSpPr>
          <p:cNvPr id="34" name="Retângulo 33"/>
          <p:cNvSpPr/>
          <p:nvPr/>
        </p:nvSpPr>
        <p:spPr>
          <a:xfrm>
            <a:off x="395536" y="3593590"/>
            <a:ext cx="2489815" cy="4834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500" b="1" dirty="0"/>
              <a:t>Famílias</a:t>
            </a:r>
          </a:p>
        </p:txBody>
      </p:sp>
      <p:sp>
        <p:nvSpPr>
          <p:cNvPr id="38" name="Retângulo 37"/>
          <p:cNvSpPr/>
          <p:nvPr/>
        </p:nvSpPr>
        <p:spPr>
          <a:xfrm>
            <a:off x="6258649" y="3593590"/>
            <a:ext cx="2489815" cy="4834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500" b="1" dirty="0"/>
              <a:t>Empresas</a:t>
            </a:r>
          </a:p>
        </p:txBody>
      </p:sp>
      <p:cxnSp>
        <p:nvCxnSpPr>
          <p:cNvPr id="42" name="Forma 41"/>
          <p:cNvCxnSpPr>
            <a:stCxn id="36" idx="1"/>
            <a:endCxn id="34" idx="0"/>
          </p:cNvCxnSpPr>
          <p:nvPr/>
        </p:nvCxnSpPr>
        <p:spPr>
          <a:xfrm rot="10800000" flipV="1">
            <a:off x="1640444" y="2492896"/>
            <a:ext cx="771316" cy="1100693"/>
          </a:xfrm>
          <a:prstGeom prst="bentConnector2">
            <a:avLst/>
          </a:prstGeom>
          <a:ln w="2540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tângulo 48"/>
          <p:cNvSpPr/>
          <p:nvPr/>
        </p:nvSpPr>
        <p:spPr>
          <a:xfrm>
            <a:off x="2290373" y="4803581"/>
            <a:ext cx="4513875" cy="57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500" b="1" dirty="0"/>
              <a:t>Mercado de fatores de produção</a:t>
            </a:r>
          </a:p>
        </p:txBody>
      </p:sp>
      <p:cxnSp>
        <p:nvCxnSpPr>
          <p:cNvPr id="53" name="Forma 52"/>
          <p:cNvCxnSpPr>
            <a:stCxn id="34" idx="2"/>
            <a:endCxn id="49" idx="1"/>
          </p:cNvCxnSpPr>
          <p:nvPr/>
        </p:nvCxnSpPr>
        <p:spPr>
          <a:xfrm rot="16200000" flipH="1">
            <a:off x="1458154" y="4259361"/>
            <a:ext cx="1014509" cy="649929"/>
          </a:xfrm>
          <a:prstGeom prst="bentConnector2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Forma 54"/>
          <p:cNvCxnSpPr>
            <a:stCxn id="49" idx="3"/>
            <a:endCxn id="38" idx="2"/>
          </p:cNvCxnSpPr>
          <p:nvPr/>
        </p:nvCxnSpPr>
        <p:spPr>
          <a:xfrm flipV="1">
            <a:off x="6804248" y="4077072"/>
            <a:ext cx="699309" cy="1014509"/>
          </a:xfrm>
          <a:prstGeom prst="bentConnector2">
            <a:avLst/>
          </a:prstGeom>
          <a:ln w="2540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Forma 56"/>
          <p:cNvCxnSpPr>
            <a:stCxn id="38" idx="0"/>
            <a:endCxn id="36" idx="3"/>
          </p:cNvCxnSpPr>
          <p:nvPr/>
        </p:nvCxnSpPr>
        <p:spPr>
          <a:xfrm rot="16200000" flipV="1">
            <a:off x="6531549" y="2621581"/>
            <a:ext cx="1100693" cy="843325"/>
          </a:xfrm>
          <a:prstGeom prst="bentConnector2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aixaDeTexto 63"/>
          <p:cNvSpPr txBox="1"/>
          <p:nvPr/>
        </p:nvSpPr>
        <p:spPr>
          <a:xfrm>
            <a:off x="2915816" y="1268760"/>
            <a:ext cx="324036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500" b="1" dirty="0">
                <a:latin typeface="+mj-lt"/>
              </a:rPr>
              <a:t>Fluxo circular da renda</a:t>
            </a:r>
            <a:endParaRPr lang="pt-BR" sz="2500" dirty="0">
              <a:latin typeface="+mj-lt"/>
            </a:endParaRPr>
          </a:p>
        </p:txBody>
      </p:sp>
      <p:grpSp>
        <p:nvGrpSpPr>
          <p:cNvPr id="27" name="Grupo 26"/>
          <p:cNvGrpSpPr/>
          <p:nvPr/>
        </p:nvGrpSpPr>
        <p:grpSpPr>
          <a:xfrm>
            <a:off x="1907704" y="2708920"/>
            <a:ext cx="504056" cy="864096"/>
            <a:chOff x="1907704" y="2852936"/>
            <a:chExt cx="504056" cy="864096"/>
          </a:xfrm>
        </p:grpSpPr>
        <p:cxnSp>
          <p:nvCxnSpPr>
            <p:cNvPr id="24" name="Conector reto 23"/>
            <p:cNvCxnSpPr/>
            <p:nvPr/>
          </p:nvCxnSpPr>
          <p:spPr>
            <a:xfrm flipV="1">
              <a:off x="1907704" y="2852936"/>
              <a:ext cx="0" cy="864096"/>
            </a:xfrm>
            <a:prstGeom prst="line">
              <a:avLst/>
            </a:prstGeom>
            <a:ln w="254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to 25"/>
            <p:cNvCxnSpPr/>
            <p:nvPr/>
          </p:nvCxnSpPr>
          <p:spPr>
            <a:xfrm>
              <a:off x="1907704" y="2852936"/>
              <a:ext cx="504056" cy="0"/>
            </a:xfrm>
            <a:prstGeom prst="line">
              <a:avLst/>
            </a:prstGeom>
            <a:ln w="254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Conector reto 28"/>
          <p:cNvCxnSpPr/>
          <p:nvPr/>
        </p:nvCxnSpPr>
        <p:spPr>
          <a:xfrm flipV="1">
            <a:off x="7164288" y="2708920"/>
            <a:ext cx="0" cy="864096"/>
          </a:xfrm>
          <a:prstGeom prst="line">
            <a:avLst/>
          </a:prstGeom>
          <a:ln w="25400">
            <a:solidFill>
              <a:srgbClr val="FF0000"/>
            </a:solidFill>
            <a:prstDash val="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/>
          <p:nvPr/>
        </p:nvCxnSpPr>
        <p:spPr>
          <a:xfrm>
            <a:off x="6660232" y="2708920"/>
            <a:ext cx="504056" cy="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tângulo 35"/>
          <p:cNvSpPr/>
          <p:nvPr/>
        </p:nvSpPr>
        <p:spPr>
          <a:xfrm>
            <a:off x="2411760" y="2204865"/>
            <a:ext cx="4248472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500" b="1" dirty="0"/>
              <a:t>Mercado de bens e serviços</a:t>
            </a:r>
          </a:p>
        </p:txBody>
      </p:sp>
      <p:cxnSp>
        <p:nvCxnSpPr>
          <p:cNvPr id="32" name="Conector reto 31"/>
          <p:cNvCxnSpPr/>
          <p:nvPr/>
        </p:nvCxnSpPr>
        <p:spPr>
          <a:xfrm flipV="1">
            <a:off x="7164288" y="4077072"/>
            <a:ext cx="0" cy="864096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/>
          <p:nvPr/>
        </p:nvCxnSpPr>
        <p:spPr>
          <a:xfrm flipV="1">
            <a:off x="1907704" y="4077072"/>
            <a:ext cx="0" cy="864096"/>
          </a:xfrm>
          <a:prstGeom prst="line">
            <a:avLst/>
          </a:prstGeom>
          <a:ln w="25400"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/>
          <p:cNvCxnSpPr/>
          <p:nvPr/>
        </p:nvCxnSpPr>
        <p:spPr>
          <a:xfrm>
            <a:off x="3923928" y="3573016"/>
            <a:ext cx="1368152" cy="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to 47"/>
          <p:cNvCxnSpPr/>
          <p:nvPr/>
        </p:nvCxnSpPr>
        <p:spPr>
          <a:xfrm>
            <a:off x="3923928" y="3933056"/>
            <a:ext cx="136815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aixaDeTexto 49"/>
          <p:cNvSpPr txBox="1"/>
          <p:nvPr/>
        </p:nvSpPr>
        <p:spPr>
          <a:xfrm>
            <a:off x="2987824" y="3140968"/>
            <a:ext cx="3240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rgbClr val="FF0000"/>
                </a:solidFill>
                <a:latin typeface="+mj-lt"/>
              </a:rPr>
              <a:t>Fluxo monetário</a:t>
            </a:r>
            <a:endParaRPr lang="pt-BR" sz="20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51" name="CaixaDeTexto 50"/>
          <p:cNvSpPr txBox="1"/>
          <p:nvPr/>
        </p:nvSpPr>
        <p:spPr>
          <a:xfrm>
            <a:off x="2940526" y="3945250"/>
            <a:ext cx="3240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latin typeface="+mj-lt"/>
              </a:rPr>
              <a:t>Fluxo real (bens</a:t>
            </a:r>
          </a:p>
          <a:p>
            <a:pPr algn="ctr"/>
            <a:r>
              <a:rPr lang="pt-BR" sz="2000" b="1" dirty="0">
                <a:latin typeface="+mj-lt"/>
              </a:rPr>
              <a:t>e serviços)</a:t>
            </a:r>
            <a:endParaRPr lang="pt-BR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128862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Conector reto 9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2432467" y="260648"/>
            <a:ext cx="54486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400" b="1" kern="0" dirty="0">
                <a:solidFill>
                  <a:srgbClr val="58595B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O</a:t>
            </a:r>
            <a:r>
              <a:rPr lang="pt-PT" sz="2400" b="1" kern="0" spc="80" dirty="0">
                <a:solidFill>
                  <a:srgbClr val="58595B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pt-PT" sz="2400" b="1" kern="0" dirty="0">
                <a:solidFill>
                  <a:srgbClr val="58595B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papel</a:t>
            </a:r>
            <a:r>
              <a:rPr lang="pt-PT" sz="2400" b="1" kern="0" spc="80" dirty="0">
                <a:solidFill>
                  <a:srgbClr val="58595B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pt-PT" sz="2400" b="1" kern="0" dirty="0">
                <a:solidFill>
                  <a:srgbClr val="58595B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econômico</a:t>
            </a:r>
            <a:r>
              <a:rPr lang="pt-PT" sz="2400" b="1" kern="0" spc="80" dirty="0">
                <a:solidFill>
                  <a:srgbClr val="58595B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pt-PT" sz="2400" b="1" kern="0" dirty="0">
                <a:solidFill>
                  <a:srgbClr val="58595B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do</a:t>
            </a:r>
            <a:r>
              <a:rPr lang="pt-PT" sz="2400" b="1" kern="0" spc="80" dirty="0">
                <a:solidFill>
                  <a:srgbClr val="58595B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pt-PT" sz="2400" b="1" kern="0" dirty="0">
                <a:solidFill>
                  <a:srgbClr val="58595B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governo</a:t>
            </a:r>
            <a:endParaRPr lang="pt-BR" sz="2400" b="1" kern="0" dirty="0">
              <a:effectLst/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  <a:p>
            <a:pPr algn="ctr"/>
            <a:endParaRPr lang="pt-BR" sz="3000" b="1" dirty="0"/>
          </a:p>
        </p:txBody>
      </p:sp>
      <p:sp>
        <p:nvSpPr>
          <p:cNvPr id="2" name="Rectangle 36">
            <a:extLst>
              <a:ext uri="{FF2B5EF4-FFF2-40B4-BE49-F238E27FC236}">
                <a16:creationId xmlns:a16="http://schemas.microsoft.com/office/drawing/2014/main" id="{104799C0-7F25-4B71-89EB-6BCD2E84F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9081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A24536A6-F686-4212-B2E1-A1262C051C79}"/>
              </a:ext>
            </a:extLst>
          </p:cNvPr>
          <p:cNvSpPr txBox="1"/>
          <p:nvPr/>
        </p:nvSpPr>
        <p:spPr>
          <a:xfrm>
            <a:off x="0" y="1835642"/>
            <a:ext cx="8892480" cy="4104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12825" marR="1046480" indent="179705" algn="just">
              <a:lnSpc>
                <a:spcPct val="116000"/>
              </a:lnSpc>
              <a:spcBef>
                <a:spcPts val="925"/>
              </a:spcBef>
              <a:spcAft>
                <a:spcPts val="0"/>
              </a:spcAft>
            </a:pPr>
            <a:r>
              <a:rPr lang="pt-PT" sz="2000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O governo é a instância máxima de administração executiva, geralmente</a:t>
            </a:r>
            <a:r>
              <a:rPr lang="pt-PT" sz="2000" spc="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 </a:t>
            </a:r>
            <a:r>
              <a:rPr lang="pt-PT" sz="2000" spc="-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reconhecida</a:t>
            </a:r>
            <a:r>
              <a:rPr lang="pt-PT" sz="2000" spc="-80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 </a:t>
            </a:r>
            <a:r>
              <a:rPr lang="pt-PT" sz="2000" spc="-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como</a:t>
            </a:r>
            <a:r>
              <a:rPr lang="pt-PT" sz="2000" spc="-7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 </a:t>
            </a:r>
            <a:r>
              <a:rPr lang="pt-PT" sz="2000" spc="-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a</a:t>
            </a:r>
            <a:r>
              <a:rPr lang="pt-PT" sz="2000" spc="-7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 </a:t>
            </a:r>
            <a:r>
              <a:rPr lang="pt-PT" sz="2000" spc="-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liderança</a:t>
            </a:r>
            <a:r>
              <a:rPr lang="pt-PT" sz="2000" spc="-7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 </a:t>
            </a:r>
            <a:r>
              <a:rPr lang="pt-PT" sz="2000" spc="-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de</a:t>
            </a:r>
            <a:r>
              <a:rPr lang="pt-PT" sz="2000" spc="-7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 </a:t>
            </a:r>
            <a:r>
              <a:rPr lang="pt-PT" sz="2000" spc="-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um</a:t>
            </a:r>
            <a:r>
              <a:rPr lang="pt-PT" sz="2000" spc="-7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 </a:t>
            </a:r>
            <a:r>
              <a:rPr lang="pt-PT" sz="2000" spc="-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Estado</a:t>
            </a:r>
            <a:r>
              <a:rPr lang="pt-PT" sz="2000" spc="-80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 </a:t>
            </a:r>
            <a:r>
              <a:rPr lang="pt-PT" sz="2000" spc="-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ou</a:t>
            </a:r>
            <a:r>
              <a:rPr lang="pt-PT" sz="2000" spc="-7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 </a:t>
            </a:r>
            <a:r>
              <a:rPr lang="pt-PT" sz="2000" spc="-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uma</a:t>
            </a:r>
            <a:r>
              <a:rPr lang="pt-PT" sz="2000" spc="-7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 </a:t>
            </a:r>
            <a:r>
              <a:rPr lang="pt-PT" sz="2000" spc="-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nação.</a:t>
            </a:r>
            <a:r>
              <a:rPr lang="pt-PT" sz="2000" spc="-7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 </a:t>
            </a:r>
            <a:r>
              <a:rPr lang="pt-PT" sz="2000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O</a:t>
            </a:r>
            <a:r>
              <a:rPr lang="pt-PT" sz="2000" spc="-7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 </a:t>
            </a:r>
            <a:r>
              <a:rPr lang="pt-PT" sz="2000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papel</a:t>
            </a:r>
            <a:r>
              <a:rPr lang="pt-PT" sz="2000" spc="-7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 </a:t>
            </a:r>
            <a:r>
              <a:rPr lang="pt-PT" sz="2000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que</a:t>
            </a:r>
            <a:r>
              <a:rPr lang="pt-PT" sz="2000" spc="-320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 </a:t>
            </a:r>
            <a:r>
              <a:rPr lang="pt-PT" sz="2000" spc="-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um governo desempenha é, na sua essência, zelar </a:t>
            </a:r>
            <a:r>
              <a:rPr lang="pt-PT" sz="2000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pelo bem-estar, da</a:t>
            </a:r>
            <a:r>
              <a:rPr lang="pt-PT" sz="2000" spc="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 </a:t>
            </a:r>
            <a:r>
              <a:rPr lang="pt-PT" sz="2000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mesma</a:t>
            </a:r>
            <a:r>
              <a:rPr lang="pt-PT" sz="2000" spc="-6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 </a:t>
            </a:r>
            <a:r>
              <a:rPr lang="pt-PT" sz="2000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maneira</a:t>
            </a:r>
            <a:r>
              <a:rPr lang="pt-PT" sz="2000" spc="-6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 </a:t>
            </a:r>
            <a:r>
              <a:rPr lang="pt-PT" sz="2000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como</a:t>
            </a:r>
            <a:r>
              <a:rPr lang="pt-PT" sz="2000" spc="-6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 </a:t>
            </a:r>
            <a:r>
              <a:rPr lang="pt-PT" sz="2000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o</a:t>
            </a:r>
            <a:r>
              <a:rPr lang="pt-PT" sz="2000" spc="-6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 </a:t>
            </a:r>
            <a:r>
              <a:rPr lang="pt-PT" sz="2000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chefe</a:t>
            </a:r>
            <a:r>
              <a:rPr lang="pt-PT" sz="2000" spc="-6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 </a:t>
            </a:r>
            <a:r>
              <a:rPr lang="pt-PT" sz="2000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de</a:t>
            </a:r>
            <a:r>
              <a:rPr lang="pt-PT" sz="2000" spc="-6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 </a:t>
            </a:r>
            <a:r>
              <a:rPr lang="pt-PT" sz="2000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uma</a:t>
            </a:r>
            <a:r>
              <a:rPr lang="pt-PT" sz="2000" spc="-6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 </a:t>
            </a:r>
            <a:r>
              <a:rPr lang="pt-PT" sz="2000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unidade</a:t>
            </a:r>
            <a:r>
              <a:rPr lang="pt-PT" sz="2000" spc="-6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 </a:t>
            </a:r>
            <a:r>
              <a:rPr lang="pt-PT" sz="2000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familiar,</a:t>
            </a:r>
            <a:r>
              <a:rPr lang="pt-PT" sz="2000" spc="-6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 </a:t>
            </a:r>
            <a:r>
              <a:rPr lang="pt-PT" sz="2000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ou</a:t>
            </a:r>
            <a:r>
              <a:rPr lang="pt-PT" sz="2000" spc="-6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 </a:t>
            </a:r>
            <a:r>
              <a:rPr lang="pt-PT" sz="2000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o</a:t>
            </a:r>
            <a:r>
              <a:rPr lang="pt-PT" sz="2000" spc="-6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 </a:t>
            </a:r>
            <a:r>
              <a:rPr lang="pt-PT" sz="2000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síndico</a:t>
            </a:r>
            <a:r>
              <a:rPr lang="pt-PT" sz="2000" spc="-6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 </a:t>
            </a:r>
            <a:r>
              <a:rPr lang="pt-PT" sz="2000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de</a:t>
            </a:r>
            <a:r>
              <a:rPr lang="pt-PT" sz="2000" spc="-6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 </a:t>
            </a:r>
            <a:r>
              <a:rPr lang="pt-PT" sz="2000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um</a:t>
            </a:r>
            <a:r>
              <a:rPr lang="pt-PT" sz="2000" spc="-300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 </a:t>
            </a:r>
            <a:r>
              <a:rPr lang="pt-PT" sz="2000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condomínio.</a:t>
            </a:r>
            <a:endParaRPr lang="pt-BR" sz="2000" dirty="0">
              <a:effectLst/>
              <a:latin typeface="Arial" panose="020B0604020202020204" pitchFamily="34" charset="0"/>
              <a:ea typeface="Trebuchet MS" panose="020B0603020202020204" pitchFamily="34" charset="0"/>
              <a:cs typeface="Arial" panose="020B0604020202020204" pitchFamily="34" charset="0"/>
            </a:endParaRPr>
          </a:p>
          <a:p>
            <a:pPr marL="1012825" marR="1045845" indent="179705" algn="just">
              <a:lnSpc>
                <a:spcPct val="116000"/>
              </a:lnSpc>
              <a:spcBef>
                <a:spcPts val="880"/>
              </a:spcBef>
              <a:spcAft>
                <a:spcPts val="0"/>
              </a:spcAft>
            </a:pPr>
            <a:r>
              <a:rPr lang="pt-PT" sz="2000" spc="-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Na</a:t>
            </a:r>
            <a:r>
              <a:rPr lang="pt-PT" sz="2000" spc="-6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 </a:t>
            </a:r>
            <a:r>
              <a:rPr lang="pt-PT" sz="2000" spc="-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realidade,</a:t>
            </a:r>
            <a:r>
              <a:rPr lang="pt-PT" sz="2000" spc="-60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 </a:t>
            </a:r>
            <a:r>
              <a:rPr lang="pt-PT" sz="2000" spc="-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o</a:t>
            </a:r>
            <a:r>
              <a:rPr lang="pt-PT" sz="2000" spc="-60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 </a:t>
            </a:r>
            <a:r>
              <a:rPr lang="pt-PT" sz="2000" spc="-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governo</a:t>
            </a:r>
            <a:r>
              <a:rPr lang="pt-PT" sz="2000" spc="-60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 </a:t>
            </a:r>
            <a:r>
              <a:rPr lang="pt-PT" sz="2000" spc="-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representa</a:t>
            </a:r>
            <a:r>
              <a:rPr lang="pt-PT" sz="2000" spc="-6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 </a:t>
            </a:r>
            <a:r>
              <a:rPr lang="pt-PT" sz="2000" spc="-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um</a:t>
            </a:r>
            <a:r>
              <a:rPr lang="pt-PT" sz="2000" spc="-60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 </a:t>
            </a:r>
            <a:r>
              <a:rPr lang="pt-PT" sz="2000" spc="-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papel</a:t>
            </a:r>
            <a:r>
              <a:rPr lang="pt-PT" sz="2000" spc="-60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 </a:t>
            </a:r>
            <a:r>
              <a:rPr lang="pt-PT" sz="2000" spc="-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cada</a:t>
            </a:r>
            <a:r>
              <a:rPr lang="pt-PT" sz="2000" spc="-60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 </a:t>
            </a:r>
            <a:r>
              <a:rPr lang="pt-PT" sz="2000" spc="-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vez</a:t>
            </a:r>
            <a:r>
              <a:rPr lang="pt-PT" sz="2000" spc="-6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 </a:t>
            </a:r>
            <a:r>
              <a:rPr lang="pt-PT" sz="2000" spc="-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maior</a:t>
            </a:r>
            <a:r>
              <a:rPr lang="pt-PT" sz="2000" spc="-60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 </a:t>
            </a:r>
            <a:r>
              <a:rPr lang="pt-PT" sz="2000" spc="-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nas</a:t>
            </a:r>
            <a:r>
              <a:rPr lang="pt-PT" sz="2000" spc="-60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 </a:t>
            </a:r>
            <a:r>
              <a:rPr lang="pt-PT" sz="2000" spc="-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econo</a:t>
            </a:r>
            <a:r>
              <a:rPr lang="pt-PT" sz="2000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mias modernas. Isso está refletido no aumento quantitativo das despesas</a:t>
            </a:r>
            <a:r>
              <a:rPr lang="pt-PT" sz="2000" spc="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 </a:t>
            </a:r>
            <a:r>
              <a:rPr lang="pt-PT" sz="2000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governamentais, na redistribuição da renda pelo Estado, e na direta regulamentação</a:t>
            </a:r>
            <a:r>
              <a:rPr lang="pt-PT" sz="2000" spc="-6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 </a:t>
            </a:r>
            <a:r>
              <a:rPr lang="pt-PT" sz="2000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da</a:t>
            </a:r>
            <a:r>
              <a:rPr lang="pt-PT" sz="2000" spc="-60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 </a:t>
            </a:r>
            <a:r>
              <a:rPr lang="pt-PT" sz="2000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atividade</a:t>
            </a:r>
            <a:r>
              <a:rPr lang="pt-PT" sz="2000" spc="-60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 </a:t>
            </a:r>
            <a:r>
              <a:rPr lang="pt-PT" sz="2000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econômica.</a:t>
            </a:r>
            <a:endParaRPr lang="pt-BR" sz="2000" dirty="0">
              <a:effectLst/>
              <a:latin typeface="Arial" panose="020B0604020202020204" pitchFamily="34" charset="0"/>
              <a:ea typeface="Trebuchet MS" panose="020B0603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2981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Conector reto 9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2432467" y="260648"/>
            <a:ext cx="54486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400" b="1" kern="0" dirty="0">
                <a:solidFill>
                  <a:srgbClr val="58595B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O</a:t>
            </a:r>
            <a:r>
              <a:rPr lang="pt-PT" sz="2400" b="1" kern="0" spc="80" dirty="0">
                <a:solidFill>
                  <a:srgbClr val="58595B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pt-PT" sz="2400" b="1" kern="0" dirty="0">
                <a:solidFill>
                  <a:srgbClr val="58595B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papel</a:t>
            </a:r>
            <a:r>
              <a:rPr lang="pt-PT" sz="2400" b="1" kern="0" spc="80" dirty="0">
                <a:solidFill>
                  <a:srgbClr val="58595B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pt-PT" sz="2400" b="1" kern="0" dirty="0">
                <a:solidFill>
                  <a:srgbClr val="58595B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econômico</a:t>
            </a:r>
            <a:r>
              <a:rPr lang="pt-PT" sz="2400" b="1" kern="0" spc="80" dirty="0">
                <a:solidFill>
                  <a:srgbClr val="58595B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pt-PT" sz="2400" b="1" kern="0" dirty="0">
                <a:solidFill>
                  <a:srgbClr val="58595B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do</a:t>
            </a:r>
            <a:r>
              <a:rPr lang="pt-PT" sz="2400" b="1" kern="0" spc="80" dirty="0">
                <a:solidFill>
                  <a:srgbClr val="58595B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pt-PT" sz="2400" b="1" kern="0" dirty="0">
                <a:solidFill>
                  <a:srgbClr val="58595B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governo</a:t>
            </a:r>
            <a:endParaRPr lang="pt-BR" sz="2400" b="1" kern="0" dirty="0">
              <a:effectLst/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  <a:p>
            <a:pPr algn="ctr"/>
            <a:endParaRPr lang="pt-BR" sz="3000" b="1" dirty="0"/>
          </a:p>
        </p:txBody>
      </p:sp>
      <p:sp>
        <p:nvSpPr>
          <p:cNvPr id="2" name="Rectangle 36">
            <a:extLst>
              <a:ext uri="{FF2B5EF4-FFF2-40B4-BE49-F238E27FC236}">
                <a16:creationId xmlns:a16="http://schemas.microsoft.com/office/drawing/2014/main" id="{104799C0-7F25-4B71-89EB-6BCD2E84F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9081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3" name="Rectangle 36">
            <a:extLst>
              <a:ext uri="{FF2B5EF4-FFF2-40B4-BE49-F238E27FC236}">
                <a16:creationId xmlns:a16="http://schemas.microsoft.com/office/drawing/2014/main" id="{47A10B34-AEC1-4FAF-BAE9-C4C47E0FE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4679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grpSp>
        <p:nvGrpSpPr>
          <p:cNvPr id="4" name="Group 1">
            <a:extLst>
              <a:ext uri="{FF2B5EF4-FFF2-40B4-BE49-F238E27FC236}">
                <a16:creationId xmlns:a16="http://schemas.microsoft.com/office/drawing/2014/main" id="{CCD4BB53-8FE1-4DBD-A8C2-121F19D519A8}"/>
              </a:ext>
            </a:extLst>
          </p:cNvPr>
          <p:cNvGrpSpPr>
            <a:grpSpLocks/>
          </p:cNvGrpSpPr>
          <p:nvPr/>
        </p:nvGrpSpPr>
        <p:grpSpPr bwMode="auto">
          <a:xfrm>
            <a:off x="251521" y="1844006"/>
            <a:ext cx="7776864" cy="4609615"/>
            <a:chOff x="3138" y="226"/>
            <a:chExt cx="5833" cy="5373"/>
          </a:xfrm>
        </p:grpSpPr>
        <p:sp>
          <p:nvSpPr>
            <p:cNvPr id="5" name="Freeform 35">
              <a:extLst>
                <a:ext uri="{FF2B5EF4-FFF2-40B4-BE49-F238E27FC236}">
                  <a16:creationId xmlns:a16="http://schemas.microsoft.com/office/drawing/2014/main" id="{031B48CE-66D9-444B-B64E-46059F5C7E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3" y="3046"/>
              <a:ext cx="2018" cy="2000"/>
            </a:xfrm>
            <a:custGeom>
              <a:avLst/>
              <a:gdLst>
                <a:gd name="T0" fmla="+- 0 3313 3313"/>
                <a:gd name="T1" fmla="*/ T0 w 2018"/>
                <a:gd name="T2" fmla="+- 0 3047 3047"/>
                <a:gd name="T3" fmla="*/ 3047 h 2000"/>
                <a:gd name="T4" fmla="+- 0 3313 3313"/>
                <a:gd name="T5" fmla="*/ T4 w 2018"/>
                <a:gd name="T6" fmla="+- 0 5047 3047"/>
                <a:gd name="T7" fmla="*/ 5047 h 2000"/>
                <a:gd name="T8" fmla="+- 0 5330 3313"/>
                <a:gd name="T9" fmla="*/ T8 w 2018"/>
                <a:gd name="T10" fmla="+- 0 5047 3047"/>
                <a:gd name="T11" fmla="*/ 5047 h 2000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</a:cxnLst>
              <a:rect l="0" t="0" r="r" b="b"/>
              <a:pathLst>
                <a:path w="2018" h="2000">
                  <a:moveTo>
                    <a:pt x="0" y="0"/>
                  </a:moveTo>
                  <a:lnTo>
                    <a:pt x="0" y="2000"/>
                  </a:lnTo>
                  <a:lnTo>
                    <a:pt x="2017" y="2000"/>
                  </a:lnTo>
                </a:path>
              </a:pathLst>
            </a:custGeom>
            <a:noFill/>
            <a:ln w="12700">
              <a:solidFill>
                <a:srgbClr val="231F2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pic>
          <p:nvPicPr>
            <p:cNvPr id="4130" name="Picture 34">
              <a:extLst>
                <a:ext uri="{FF2B5EF4-FFF2-40B4-BE49-F238E27FC236}">
                  <a16:creationId xmlns:a16="http://schemas.microsoft.com/office/drawing/2014/main" id="{04994E77-AA1C-467A-A228-F46BE7D7B6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61" y="2937"/>
              <a:ext cx="103" cy="1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Freeform 33">
              <a:extLst>
                <a:ext uri="{FF2B5EF4-FFF2-40B4-BE49-F238E27FC236}">
                  <a16:creationId xmlns:a16="http://schemas.microsoft.com/office/drawing/2014/main" id="{35222779-7ED8-4878-BB6C-D8E4D35911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7" y="3024"/>
              <a:ext cx="2185" cy="2022"/>
            </a:xfrm>
            <a:custGeom>
              <a:avLst/>
              <a:gdLst>
                <a:gd name="T0" fmla="+- 0 6618 6618"/>
                <a:gd name="T1" fmla="*/ T0 w 2185"/>
                <a:gd name="T2" fmla="+- 0 5046 3024"/>
                <a:gd name="T3" fmla="*/ 5046 h 2022"/>
                <a:gd name="T4" fmla="+- 0 8802 6618"/>
                <a:gd name="T5" fmla="*/ T4 w 2185"/>
                <a:gd name="T6" fmla="+- 0 5046 3024"/>
                <a:gd name="T7" fmla="*/ 5046 h 2022"/>
                <a:gd name="T8" fmla="+- 0 8802 6618"/>
                <a:gd name="T9" fmla="*/ T8 w 2185"/>
                <a:gd name="T10" fmla="+- 0 3024 3024"/>
                <a:gd name="T11" fmla="*/ 3024 h 202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</a:cxnLst>
              <a:rect l="0" t="0" r="r" b="b"/>
              <a:pathLst>
                <a:path w="2185" h="2022">
                  <a:moveTo>
                    <a:pt x="0" y="2022"/>
                  </a:moveTo>
                  <a:lnTo>
                    <a:pt x="2184" y="2022"/>
                  </a:lnTo>
                  <a:lnTo>
                    <a:pt x="2184" y="0"/>
                  </a:lnTo>
                </a:path>
              </a:pathLst>
            </a:custGeom>
            <a:noFill/>
            <a:ln w="12700">
              <a:solidFill>
                <a:srgbClr val="231F2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pic>
          <p:nvPicPr>
            <p:cNvPr id="4128" name="Picture 32">
              <a:extLst>
                <a:ext uri="{FF2B5EF4-FFF2-40B4-BE49-F238E27FC236}">
                  <a16:creationId xmlns:a16="http://schemas.microsoft.com/office/drawing/2014/main" id="{B1665D65-1AAA-43F1-8604-7DDEAC3813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50" y="2914"/>
              <a:ext cx="103" cy="1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Freeform 31">
              <a:extLst>
                <a:ext uri="{FF2B5EF4-FFF2-40B4-BE49-F238E27FC236}">
                  <a16:creationId xmlns:a16="http://schemas.microsoft.com/office/drawing/2014/main" id="{E9D94ED5-ED79-4838-B584-A902C424A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0" y="2938"/>
              <a:ext cx="3825" cy="1285"/>
            </a:xfrm>
            <a:custGeom>
              <a:avLst/>
              <a:gdLst>
                <a:gd name="T0" fmla="+- 0 4102 4100"/>
                <a:gd name="T1" fmla="*/ T0 w 3825"/>
                <a:gd name="T2" fmla="+- 0 3056 2938"/>
                <a:gd name="T3" fmla="*/ 3056 h 1285"/>
                <a:gd name="T4" fmla="+- 0 4100 4100"/>
                <a:gd name="T5" fmla="*/ T4 w 3825"/>
                <a:gd name="T6" fmla="+- 0 4223 2938"/>
                <a:gd name="T7" fmla="*/ 4223 h 1285"/>
                <a:gd name="T8" fmla="+- 0 7924 4100"/>
                <a:gd name="T9" fmla="*/ T8 w 3825"/>
                <a:gd name="T10" fmla="+- 0 4223 2938"/>
                <a:gd name="T11" fmla="*/ 4223 h 1285"/>
                <a:gd name="T12" fmla="+- 0 7924 4100"/>
                <a:gd name="T13" fmla="*/ T12 w 3825"/>
                <a:gd name="T14" fmla="+- 0 2938 2938"/>
                <a:gd name="T15" fmla="*/ 2938 h 128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3825" h="1285">
                  <a:moveTo>
                    <a:pt x="2" y="118"/>
                  </a:moveTo>
                  <a:lnTo>
                    <a:pt x="0" y="1285"/>
                  </a:lnTo>
                  <a:lnTo>
                    <a:pt x="3824" y="1285"/>
                  </a:lnTo>
                  <a:lnTo>
                    <a:pt x="3824" y="0"/>
                  </a:lnTo>
                </a:path>
              </a:pathLst>
            </a:custGeom>
            <a:noFill/>
            <a:ln w="12700">
              <a:solidFill>
                <a:srgbClr val="231F2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pic>
          <p:nvPicPr>
            <p:cNvPr id="4126" name="Picture 30">
              <a:extLst>
                <a:ext uri="{FF2B5EF4-FFF2-40B4-BE49-F238E27FC236}">
                  <a16:creationId xmlns:a16="http://schemas.microsoft.com/office/drawing/2014/main" id="{EA29B318-1E81-41CD-AB37-7C78169C9F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0" y="2947"/>
              <a:ext cx="103" cy="1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Freeform 29">
              <a:extLst>
                <a:ext uri="{FF2B5EF4-FFF2-40B4-BE49-F238E27FC236}">
                  <a16:creationId xmlns:a16="http://schemas.microsoft.com/office/drawing/2014/main" id="{553686D2-3DE3-433B-9981-76FAF99649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7" y="2930"/>
              <a:ext cx="2860" cy="646"/>
            </a:xfrm>
            <a:custGeom>
              <a:avLst/>
              <a:gdLst>
                <a:gd name="T0" fmla="+- 0 4569 4567"/>
                <a:gd name="T1" fmla="*/ T0 w 2860"/>
                <a:gd name="T2" fmla="+- 0 2931 2931"/>
                <a:gd name="T3" fmla="*/ 2931 h 646"/>
                <a:gd name="T4" fmla="+- 0 4567 4567"/>
                <a:gd name="T5" fmla="*/ T4 w 2860"/>
                <a:gd name="T6" fmla="+- 0 3576 2931"/>
                <a:gd name="T7" fmla="*/ 3576 h 646"/>
                <a:gd name="T8" fmla="+- 0 7427 4567"/>
                <a:gd name="T9" fmla="*/ T8 w 2860"/>
                <a:gd name="T10" fmla="+- 0 3576 2931"/>
                <a:gd name="T11" fmla="*/ 3576 h 646"/>
                <a:gd name="T12" fmla="+- 0 7427 4567"/>
                <a:gd name="T13" fmla="*/ T12 w 2860"/>
                <a:gd name="T14" fmla="+- 0 3036 2931"/>
                <a:gd name="T15" fmla="*/ 3036 h 646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860" h="646">
                  <a:moveTo>
                    <a:pt x="2" y="0"/>
                  </a:moveTo>
                  <a:lnTo>
                    <a:pt x="0" y="645"/>
                  </a:lnTo>
                  <a:lnTo>
                    <a:pt x="2860" y="645"/>
                  </a:lnTo>
                  <a:lnTo>
                    <a:pt x="2860" y="105"/>
                  </a:lnTo>
                </a:path>
              </a:pathLst>
            </a:custGeom>
            <a:noFill/>
            <a:ln w="12700">
              <a:solidFill>
                <a:srgbClr val="231F2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pic>
          <p:nvPicPr>
            <p:cNvPr id="4124" name="Picture 28">
              <a:extLst>
                <a:ext uri="{FF2B5EF4-FFF2-40B4-BE49-F238E27FC236}">
                  <a16:creationId xmlns:a16="http://schemas.microsoft.com/office/drawing/2014/main" id="{362847CA-83DA-4D1C-9F7F-8018345CA7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76" y="2926"/>
              <a:ext cx="103" cy="1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Freeform 27">
              <a:extLst>
                <a:ext uri="{FF2B5EF4-FFF2-40B4-BE49-F238E27FC236}">
                  <a16:creationId xmlns:a16="http://schemas.microsoft.com/office/drawing/2014/main" id="{E8CE5D42-EB0F-4E96-A4AA-FFF51249323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4" y="2920"/>
              <a:ext cx="1650" cy="1878"/>
            </a:xfrm>
            <a:custGeom>
              <a:avLst/>
              <a:gdLst>
                <a:gd name="T0" fmla="+- 0 8384 6734"/>
                <a:gd name="T1" fmla="*/ T0 w 1650"/>
                <a:gd name="T2" fmla="+- 0 2921 2921"/>
                <a:gd name="T3" fmla="*/ 2921 h 1878"/>
                <a:gd name="T4" fmla="+- 0 8384 6734"/>
                <a:gd name="T5" fmla="*/ T4 w 1650"/>
                <a:gd name="T6" fmla="+- 0 4799 2921"/>
                <a:gd name="T7" fmla="*/ 4799 h 1878"/>
                <a:gd name="T8" fmla="+- 0 6734 6734"/>
                <a:gd name="T9" fmla="*/ T8 w 1650"/>
                <a:gd name="T10" fmla="+- 0 4799 2921"/>
                <a:gd name="T11" fmla="*/ 4799 h 1878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</a:cxnLst>
              <a:rect l="0" t="0" r="r" b="b"/>
              <a:pathLst>
                <a:path w="1650" h="1878">
                  <a:moveTo>
                    <a:pt x="1650" y="0"/>
                  </a:moveTo>
                  <a:lnTo>
                    <a:pt x="1650" y="1878"/>
                  </a:lnTo>
                  <a:lnTo>
                    <a:pt x="0" y="1878"/>
                  </a:lnTo>
                </a:path>
              </a:pathLst>
            </a:custGeom>
            <a:noFill/>
            <a:ln w="12700">
              <a:solidFill>
                <a:srgbClr val="231F2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pic>
          <p:nvPicPr>
            <p:cNvPr id="4122" name="Picture 26">
              <a:extLst>
                <a:ext uri="{FF2B5EF4-FFF2-40B4-BE49-F238E27FC236}">
                  <a16:creationId xmlns:a16="http://schemas.microsoft.com/office/drawing/2014/main" id="{D02CC507-E2E5-4572-AB92-CA15B54149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24" y="4747"/>
              <a:ext cx="141" cy="1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Freeform 25">
              <a:extLst>
                <a:ext uri="{FF2B5EF4-FFF2-40B4-BE49-F238E27FC236}">
                  <a16:creationId xmlns:a16="http://schemas.microsoft.com/office/drawing/2014/main" id="{AD5D5FC3-C3D0-460F-B834-48BC83EF51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3" y="2920"/>
              <a:ext cx="1528" cy="1878"/>
            </a:xfrm>
            <a:custGeom>
              <a:avLst/>
              <a:gdLst>
                <a:gd name="T0" fmla="+- 0 3693 3693"/>
                <a:gd name="T1" fmla="*/ T0 w 1528"/>
                <a:gd name="T2" fmla="+- 0 2921 2921"/>
                <a:gd name="T3" fmla="*/ 2921 h 1878"/>
                <a:gd name="T4" fmla="+- 0 3693 3693"/>
                <a:gd name="T5" fmla="*/ T4 w 1528"/>
                <a:gd name="T6" fmla="+- 0 4799 2921"/>
                <a:gd name="T7" fmla="*/ 4799 h 1878"/>
                <a:gd name="T8" fmla="+- 0 5221 3693"/>
                <a:gd name="T9" fmla="*/ T8 w 1528"/>
                <a:gd name="T10" fmla="+- 0 4799 2921"/>
                <a:gd name="T11" fmla="*/ 4799 h 1878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</a:cxnLst>
              <a:rect l="0" t="0" r="r" b="b"/>
              <a:pathLst>
                <a:path w="1528" h="1878">
                  <a:moveTo>
                    <a:pt x="0" y="0"/>
                  </a:moveTo>
                  <a:lnTo>
                    <a:pt x="0" y="1878"/>
                  </a:lnTo>
                  <a:lnTo>
                    <a:pt x="1528" y="1878"/>
                  </a:lnTo>
                </a:path>
              </a:pathLst>
            </a:custGeom>
            <a:noFill/>
            <a:ln w="12700">
              <a:solidFill>
                <a:srgbClr val="231F2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pic>
          <p:nvPicPr>
            <p:cNvPr id="4120" name="Picture 24">
              <a:extLst>
                <a:ext uri="{FF2B5EF4-FFF2-40B4-BE49-F238E27FC236}">
                  <a16:creationId xmlns:a16="http://schemas.microsoft.com/office/drawing/2014/main" id="{DFB9EF16-B668-4A2D-B838-33B1D630C7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90" y="4747"/>
              <a:ext cx="141" cy="1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Freeform 23">
              <a:extLst>
                <a:ext uri="{FF2B5EF4-FFF2-40B4-BE49-F238E27FC236}">
                  <a16:creationId xmlns:a16="http://schemas.microsoft.com/office/drawing/2014/main" id="{A64F4F3B-C2DA-48B3-80EB-F6D8130844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9" y="400"/>
              <a:ext cx="1861" cy="1891"/>
            </a:xfrm>
            <a:custGeom>
              <a:avLst/>
              <a:gdLst>
                <a:gd name="T0" fmla="+- 0 3330 3330"/>
                <a:gd name="T1" fmla="*/ T0 w 1861"/>
                <a:gd name="T2" fmla="+- 0 2291 401"/>
                <a:gd name="T3" fmla="*/ 2291 h 1891"/>
                <a:gd name="T4" fmla="+- 0 3330 3330"/>
                <a:gd name="T5" fmla="*/ T4 w 1861"/>
                <a:gd name="T6" fmla="+- 0 401 401"/>
                <a:gd name="T7" fmla="*/ 401 h 1891"/>
                <a:gd name="T8" fmla="+- 0 5190 3330"/>
                <a:gd name="T9" fmla="*/ T8 w 1861"/>
                <a:gd name="T10" fmla="+- 0 401 401"/>
                <a:gd name="T11" fmla="*/ 401 h 1891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</a:cxnLst>
              <a:rect l="0" t="0" r="r" b="b"/>
              <a:pathLst>
                <a:path w="1861" h="1891">
                  <a:moveTo>
                    <a:pt x="0" y="1890"/>
                  </a:moveTo>
                  <a:lnTo>
                    <a:pt x="0" y="0"/>
                  </a:lnTo>
                  <a:lnTo>
                    <a:pt x="1860" y="0"/>
                  </a:lnTo>
                </a:path>
              </a:pathLst>
            </a:custGeom>
            <a:noFill/>
            <a:ln w="12700">
              <a:solidFill>
                <a:srgbClr val="231F2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pic>
          <p:nvPicPr>
            <p:cNvPr id="4118" name="Picture 22">
              <a:extLst>
                <a:ext uri="{FF2B5EF4-FFF2-40B4-BE49-F238E27FC236}">
                  <a16:creationId xmlns:a16="http://schemas.microsoft.com/office/drawing/2014/main" id="{84927641-F56B-4C80-A480-BDE68B698B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59" y="349"/>
              <a:ext cx="141" cy="1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Freeform 21">
              <a:extLst>
                <a:ext uri="{FF2B5EF4-FFF2-40B4-BE49-F238E27FC236}">
                  <a16:creationId xmlns:a16="http://schemas.microsoft.com/office/drawing/2014/main" id="{2614C66A-261F-4F78-9C4D-F7AC1559DA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8" y="740"/>
              <a:ext cx="1599" cy="1419"/>
            </a:xfrm>
            <a:custGeom>
              <a:avLst/>
              <a:gdLst>
                <a:gd name="T0" fmla="+- 0 3708 3708"/>
                <a:gd name="T1" fmla="*/ T0 w 1599"/>
                <a:gd name="T2" fmla="+- 0 2159 741"/>
                <a:gd name="T3" fmla="*/ 2159 h 1419"/>
                <a:gd name="T4" fmla="+- 0 3708 3708"/>
                <a:gd name="T5" fmla="*/ T4 w 1599"/>
                <a:gd name="T6" fmla="+- 0 741 741"/>
                <a:gd name="T7" fmla="*/ 741 h 1419"/>
                <a:gd name="T8" fmla="+- 0 5307 3708"/>
                <a:gd name="T9" fmla="*/ T8 w 1599"/>
                <a:gd name="T10" fmla="+- 0 741 741"/>
                <a:gd name="T11" fmla="*/ 741 h 141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</a:cxnLst>
              <a:rect l="0" t="0" r="r" b="b"/>
              <a:pathLst>
                <a:path w="1599" h="1419">
                  <a:moveTo>
                    <a:pt x="0" y="1418"/>
                  </a:moveTo>
                  <a:lnTo>
                    <a:pt x="0" y="0"/>
                  </a:lnTo>
                  <a:lnTo>
                    <a:pt x="1599" y="0"/>
                  </a:lnTo>
                </a:path>
              </a:pathLst>
            </a:custGeom>
            <a:noFill/>
            <a:ln w="12700">
              <a:solidFill>
                <a:srgbClr val="231F2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pic>
          <p:nvPicPr>
            <p:cNvPr id="4116" name="Picture 20">
              <a:extLst>
                <a:ext uri="{FF2B5EF4-FFF2-40B4-BE49-F238E27FC236}">
                  <a16:creationId xmlns:a16="http://schemas.microsoft.com/office/drawing/2014/main" id="{1455B87D-4A25-4F69-A0A1-387DD81BDE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7" y="2128"/>
              <a:ext cx="103" cy="1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Freeform 19">
              <a:extLst>
                <a:ext uri="{FF2B5EF4-FFF2-40B4-BE49-F238E27FC236}">
                  <a16:creationId xmlns:a16="http://schemas.microsoft.com/office/drawing/2014/main" id="{57BF9DEF-A6CC-49B3-A4A4-420FA89E65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6" y="725"/>
              <a:ext cx="1776" cy="1434"/>
            </a:xfrm>
            <a:custGeom>
              <a:avLst/>
              <a:gdLst>
                <a:gd name="T0" fmla="+- 0 6596 6596"/>
                <a:gd name="T1" fmla="*/ T0 w 1776"/>
                <a:gd name="T2" fmla="+- 0 726 726"/>
                <a:gd name="T3" fmla="*/ 726 h 1434"/>
                <a:gd name="T4" fmla="+- 0 8372 6596"/>
                <a:gd name="T5" fmla="*/ T4 w 1776"/>
                <a:gd name="T6" fmla="+- 0 726 726"/>
                <a:gd name="T7" fmla="*/ 726 h 1434"/>
                <a:gd name="T8" fmla="+- 0 8372 6596"/>
                <a:gd name="T9" fmla="*/ T8 w 1776"/>
                <a:gd name="T10" fmla="+- 0 2159 726"/>
                <a:gd name="T11" fmla="*/ 2159 h 1434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</a:cxnLst>
              <a:rect l="0" t="0" r="r" b="b"/>
              <a:pathLst>
                <a:path w="1776" h="1434">
                  <a:moveTo>
                    <a:pt x="0" y="0"/>
                  </a:moveTo>
                  <a:lnTo>
                    <a:pt x="1776" y="0"/>
                  </a:lnTo>
                  <a:lnTo>
                    <a:pt x="1776" y="1433"/>
                  </a:lnTo>
                </a:path>
              </a:pathLst>
            </a:custGeom>
            <a:noFill/>
            <a:ln w="12700">
              <a:solidFill>
                <a:srgbClr val="231F2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pic>
          <p:nvPicPr>
            <p:cNvPr id="4114" name="Picture 18">
              <a:extLst>
                <a:ext uri="{FF2B5EF4-FFF2-40B4-BE49-F238E27FC236}">
                  <a16:creationId xmlns:a16="http://schemas.microsoft.com/office/drawing/2014/main" id="{4B326E22-5D06-44DE-9561-364190131F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21" y="2128"/>
              <a:ext cx="103" cy="1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081121EE-CE58-44D7-9F21-3036C65582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0" y="1231"/>
              <a:ext cx="3825" cy="929"/>
            </a:xfrm>
            <a:custGeom>
              <a:avLst/>
              <a:gdLst>
                <a:gd name="T0" fmla="+- 0 4102 4100"/>
                <a:gd name="T1" fmla="*/ T0 w 3825"/>
                <a:gd name="T2" fmla="+- 0 2152 1231"/>
                <a:gd name="T3" fmla="*/ 2152 h 929"/>
                <a:gd name="T4" fmla="+- 0 4100 4100"/>
                <a:gd name="T5" fmla="*/ T4 w 3825"/>
                <a:gd name="T6" fmla="+- 0 1231 1231"/>
                <a:gd name="T7" fmla="*/ 1231 h 929"/>
                <a:gd name="T8" fmla="+- 0 7924 4100"/>
                <a:gd name="T9" fmla="*/ T8 w 3825"/>
                <a:gd name="T10" fmla="+- 0 1231 1231"/>
                <a:gd name="T11" fmla="*/ 1231 h 929"/>
                <a:gd name="T12" fmla="+- 0 7924 4100"/>
                <a:gd name="T13" fmla="*/ T12 w 3825"/>
                <a:gd name="T14" fmla="+- 0 2159 1231"/>
                <a:gd name="T15" fmla="*/ 2159 h 92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3825" h="929">
                  <a:moveTo>
                    <a:pt x="2" y="921"/>
                  </a:moveTo>
                  <a:lnTo>
                    <a:pt x="0" y="0"/>
                  </a:lnTo>
                  <a:lnTo>
                    <a:pt x="3824" y="0"/>
                  </a:lnTo>
                  <a:lnTo>
                    <a:pt x="3824" y="928"/>
                  </a:lnTo>
                </a:path>
              </a:pathLst>
            </a:custGeom>
            <a:noFill/>
            <a:ln w="12700">
              <a:solidFill>
                <a:srgbClr val="231F2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pic>
          <p:nvPicPr>
            <p:cNvPr id="4112" name="Picture 16">
              <a:extLst>
                <a:ext uri="{FF2B5EF4-FFF2-40B4-BE49-F238E27FC236}">
                  <a16:creationId xmlns:a16="http://schemas.microsoft.com/office/drawing/2014/main" id="{3729FA82-A87C-4A00-8C5C-09036FFD52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73" y="2128"/>
              <a:ext cx="103" cy="1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1" name="Picture 15">
              <a:extLst>
                <a:ext uri="{FF2B5EF4-FFF2-40B4-BE49-F238E27FC236}">
                  <a16:creationId xmlns:a16="http://schemas.microsoft.com/office/drawing/2014/main" id="{A5FA1BC2-1235-4F4E-B963-648E442720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0" y="2121"/>
              <a:ext cx="103" cy="1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3DF8EDB1-5B7A-4340-B497-B79F86E36A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7" y="1655"/>
              <a:ext cx="2876" cy="608"/>
            </a:xfrm>
            <a:custGeom>
              <a:avLst/>
              <a:gdLst>
                <a:gd name="T0" fmla="+- 0 4569 4567"/>
                <a:gd name="T1" fmla="*/ T0 w 2876"/>
                <a:gd name="T2" fmla="+- 0 2150 1655"/>
                <a:gd name="T3" fmla="*/ 2150 h 608"/>
                <a:gd name="T4" fmla="+- 0 4567 4567"/>
                <a:gd name="T5" fmla="*/ T4 w 2876"/>
                <a:gd name="T6" fmla="+- 0 1655 1655"/>
                <a:gd name="T7" fmla="*/ 1655 h 608"/>
                <a:gd name="T8" fmla="+- 0 7443 4567"/>
                <a:gd name="T9" fmla="*/ T8 w 2876"/>
                <a:gd name="T10" fmla="+- 0 1655 1655"/>
                <a:gd name="T11" fmla="*/ 1655 h 608"/>
                <a:gd name="T12" fmla="+- 0 7443 4567"/>
                <a:gd name="T13" fmla="*/ T12 w 2876"/>
                <a:gd name="T14" fmla="+- 0 2263 1655"/>
                <a:gd name="T15" fmla="*/ 2263 h 608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876" h="608">
                  <a:moveTo>
                    <a:pt x="2" y="495"/>
                  </a:moveTo>
                  <a:lnTo>
                    <a:pt x="0" y="0"/>
                  </a:lnTo>
                  <a:lnTo>
                    <a:pt x="2876" y="0"/>
                  </a:lnTo>
                  <a:lnTo>
                    <a:pt x="2876" y="608"/>
                  </a:lnTo>
                </a:path>
              </a:pathLst>
            </a:custGeom>
            <a:noFill/>
            <a:ln w="12700">
              <a:solidFill>
                <a:srgbClr val="231F2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pic>
          <p:nvPicPr>
            <p:cNvPr id="4109" name="Picture 13">
              <a:extLst>
                <a:ext uri="{FF2B5EF4-FFF2-40B4-BE49-F238E27FC236}">
                  <a16:creationId xmlns:a16="http://schemas.microsoft.com/office/drawing/2014/main" id="{A97963F1-B9FE-470F-A0A0-3120A8763F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17" y="2118"/>
              <a:ext cx="103" cy="1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C8D8D85D-4E37-4E41-8815-14FEBA020F2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2" y="400"/>
              <a:ext cx="2085" cy="1869"/>
            </a:xfrm>
            <a:custGeom>
              <a:avLst/>
              <a:gdLst>
                <a:gd name="T0" fmla="+- 0 8797 6713"/>
                <a:gd name="T1" fmla="*/ T0 w 2085"/>
                <a:gd name="T2" fmla="+- 0 2269 401"/>
                <a:gd name="T3" fmla="*/ 2269 h 1869"/>
                <a:gd name="T4" fmla="+- 0 8797 6713"/>
                <a:gd name="T5" fmla="*/ T4 w 2085"/>
                <a:gd name="T6" fmla="+- 0 401 401"/>
                <a:gd name="T7" fmla="*/ 401 h 1869"/>
                <a:gd name="T8" fmla="+- 0 6713 6713"/>
                <a:gd name="T9" fmla="*/ T8 w 2085"/>
                <a:gd name="T10" fmla="+- 0 401 401"/>
                <a:gd name="T11" fmla="*/ 401 h 186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</a:cxnLst>
              <a:rect l="0" t="0" r="r" b="b"/>
              <a:pathLst>
                <a:path w="2085" h="1869">
                  <a:moveTo>
                    <a:pt x="2084" y="1868"/>
                  </a:moveTo>
                  <a:lnTo>
                    <a:pt x="2084" y="0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231F2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pic>
          <p:nvPicPr>
            <p:cNvPr id="4107" name="Picture 11">
              <a:extLst>
                <a:ext uri="{FF2B5EF4-FFF2-40B4-BE49-F238E27FC236}">
                  <a16:creationId xmlns:a16="http://schemas.microsoft.com/office/drawing/2014/main" id="{E762A3A5-5278-4766-ABC3-3B96B9E2B0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03" y="349"/>
              <a:ext cx="141" cy="1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AutoShape 10">
              <a:extLst>
                <a:ext uri="{FF2B5EF4-FFF2-40B4-BE49-F238E27FC236}">
                  <a16:creationId xmlns:a16="http://schemas.microsoft.com/office/drawing/2014/main" id="{3FAC470A-5C79-4DCC-BD1A-B767C5F38F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8" y="2255"/>
              <a:ext cx="5833" cy="681"/>
            </a:xfrm>
            <a:custGeom>
              <a:avLst/>
              <a:gdLst>
                <a:gd name="T0" fmla="+- 0 4678 3138"/>
                <a:gd name="T1" fmla="*/ T0 w 5833"/>
                <a:gd name="T2" fmla="+- 0 2256 2256"/>
                <a:gd name="T3" fmla="*/ 2256 h 681"/>
                <a:gd name="T4" fmla="+- 0 3138 3138"/>
                <a:gd name="T5" fmla="*/ T4 w 5833"/>
                <a:gd name="T6" fmla="+- 0 2256 2256"/>
                <a:gd name="T7" fmla="*/ 2256 h 681"/>
                <a:gd name="T8" fmla="+- 0 3138 3138"/>
                <a:gd name="T9" fmla="*/ T8 w 5833"/>
                <a:gd name="T10" fmla="+- 0 2936 2256"/>
                <a:gd name="T11" fmla="*/ 2936 h 681"/>
                <a:gd name="T12" fmla="+- 0 4678 3138"/>
                <a:gd name="T13" fmla="*/ T12 w 5833"/>
                <a:gd name="T14" fmla="+- 0 2936 2256"/>
                <a:gd name="T15" fmla="*/ 2936 h 681"/>
                <a:gd name="T16" fmla="+- 0 4678 3138"/>
                <a:gd name="T17" fmla="*/ T16 w 5833"/>
                <a:gd name="T18" fmla="+- 0 2256 2256"/>
                <a:gd name="T19" fmla="*/ 2256 h 681"/>
                <a:gd name="T20" fmla="+- 0 8970 3138"/>
                <a:gd name="T21" fmla="*/ T20 w 5833"/>
                <a:gd name="T22" fmla="+- 0 2256 2256"/>
                <a:gd name="T23" fmla="*/ 2256 h 681"/>
                <a:gd name="T24" fmla="+- 0 7328 3138"/>
                <a:gd name="T25" fmla="*/ T24 w 5833"/>
                <a:gd name="T26" fmla="+- 0 2256 2256"/>
                <a:gd name="T27" fmla="*/ 2256 h 681"/>
                <a:gd name="T28" fmla="+- 0 7328 3138"/>
                <a:gd name="T29" fmla="*/ T28 w 5833"/>
                <a:gd name="T30" fmla="+- 0 2936 2256"/>
                <a:gd name="T31" fmla="*/ 2936 h 681"/>
                <a:gd name="T32" fmla="+- 0 8970 3138"/>
                <a:gd name="T33" fmla="*/ T32 w 5833"/>
                <a:gd name="T34" fmla="+- 0 2936 2256"/>
                <a:gd name="T35" fmla="*/ 2936 h 681"/>
                <a:gd name="T36" fmla="+- 0 8970 3138"/>
                <a:gd name="T37" fmla="*/ T36 w 5833"/>
                <a:gd name="T38" fmla="+- 0 2256 2256"/>
                <a:gd name="T39" fmla="*/ 2256 h 681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  <a:cxn ang="0">
                  <a:pos x="T21" y="T23"/>
                </a:cxn>
                <a:cxn ang="0">
                  <a:pos x="T25" y="T27"/>
                </a:cxn>
                <a:cxn ang="0">
                  <a:pos x="T29" y="T31"/>
                </a:cxn>
                <a:cxn ang="0">
                  <a:pos x="T33" y="T35"/>
                </a:cxn>
                <a:cxn ang="0">
                  <a:pos x="T37" y="T39"/>
                </a:cxn>
              </a:cxnLst>
              <a:rect l="0" t="0" r="r" b="b"/>
              <a:pathLst>
                <a:path w="5833" h="681">
                  <a:moveTo>
                    <a:pt x="1540" y="0"/>
                  </a:moveTo>
                  <a:lnTo>
                    <a:pt x="0" y="0"/>
                  </a:lnTo>
                  <a:lnTo>
                    <a:pt x="0" y="680"/>
                  </a:lnTo>
                  <a:lnTo>
                    <a:pt x="1540" y="680"/>
                  </a:lnTo>
                  <a:lnTo>
                    <a:pt x="1540" y="0"/>
                  </a:lnTo>
                  <a:close/>
                  <a:moveTo>
                    <a:pt x="5832" y="0"/>
                  </a:moveTo>
                  <a:lnTo>
                    <a:pt x="4190" y="0"/>
                  </a:lnTo>
                  <a:lnTo>
                    <a:pt x="4190" y="680"/>
                  </a:lnTo>
                  <a:lnTo>
                    <a:pt x="5832" y="680"/>
                  </a:lnTo>
                  <a:lnTo>
                    <a:pt x="5832" y="0"/>
                  </a:lnTo>
                  <a:close/>
                </a:path>
              </a:pathLst>
            </a:custGeom>
            <a:solidFill>
              <a:srgbClr val="8F91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0" name="Text Box 9">
              <a:extLst>
                <a:ext uri="{FF2B5EF4-FFF2-40B4-BE49-F238E27FC236}">
                  <a16:creationId xmlns:a16="http://schemas.microsoft.com/office/drawing/2014/main" id="{C15A80EF-D906-4DCA-9902-F2E19AE0E9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9" y="435"/>
              <a:ext cx="49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PT" altLang="pt-BR" sz="900" b="0" i="0" u="none" strike="noStrike" cap="none" normalizeH="0" baseline="0">
                  <a:ln>
                    <a:noFill/>
                  </a:ln>
                  <a:solidFill>
                    <a:srgbClr val="231F20"/>
                  </a:solidFill>
                  <a:effectLst/>
                  <a:latin typeface="Arial" panose="020B0604020202020204" pitchFamily="34" charset="0"/>
                  <a:ea typeface="Trebuchet MS" panose="020B0603020202020204" pitchFamily="34" charset="0"/>
                  <a:cs typeface="Trebuchet MS" panose="020B0603020202020204" pitchFamily="34" charset="0"/>
                </a:rPr>
                <a:t>Renda</a:t>
              </a:r>
              <a:endParaRPr kumimoji="0" lang="pt-PT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" name="Text Box 8">
              <a:extLst>
                <a:ext uri="{FF2B5EF4-FFF2-40B4-BE49-F238E27FC236}">
                  <a16:creationId xmlns:a16="http://schemas.microsoft.com/office/drawing/2014/main" id="{44F903CF-80A6-40C1-838D-866F57C66B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52" y="431"/>
              <a:ext cx="892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PT" altLang="pt-BR" sz="900" b="0" i="0" u="none" strike="noStrike" cap="none" normalizeH="0" baseline="0">
                  <a:ln>
                    <a:noFill/>
                  </a:ln>
                  <a:solidFill>
                    <a:srgbClr val="231F20"/>
                  </a:solidFill>
                  <a:effectLst/>
                  <a:latin typeface="Arial" panose="020B0604020202020204" pitchFamily="34" charset="0"/>
                  <a:ea typeface="Trebuchet MS" panose="020B0603020202020204" pitchFamily="34" charset="0"/>
                  <a:cs typeface="Trebuchet MS" panose="020B0603020202020204" pitchFamily="34" charset="0"/>
                </a:rPr>
                <a:t>Importação</a:t>
              </a:r>
              <a:endParaRPr kumimoji="0" lang="pt-PT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" name="Text Box 7">
              <a:extLst>
                <a:ext uri="{FF2B5EF4-FFF2-40B4-BE49-F238E27FC236}">
                  <a16:creationId xmlns:a16="http://schemas.microsoft.com/office/drawing/2014/main" id="{C6267AE8-C388-470E-A954-B0F8DCDCEF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74" y="957"/>
              <a:ext cx="2400" cy="10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PT" altLang="pt-BR" sz="1100" b="0" i="0" u="none" strike="noStrike" cap="none" normalizeH="0" baseline="0" dirty="0">
                  <a:ln>
                    <a:noFill/>
                  </a:ln>
                  <a:solidFill>
                    <a:srgbClr val="231F20"/>
                  </a:solidFill>
                  <a:effectLst/>
                  <a:latin typeface="Arial" panose="020B0604020202020204" pitchFamily="34" charset="0"/>
                  <a:ea typeface="Trebuchet MS" panose="020B0603020202020204" pitchFamily="34" charset="0"/>
                  <a:cs typeface="Trebuchet MS" panose="020B0603020202020204" pitchFamily="34" charset="0"/>
                </a:rPr>
                <a:t>Consumo ($)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PT" altLang="pt-B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PT" altLang="pt-BR" sz="1100" b="0" i="0" u="none" strike="noStrike" cap="none" normalizeH="0" baseline="0" dirty="0">
                <a:ln>
                  <a:noFill/>
                </a:ln>
                <a:solidFill>
                  <a:srgbClr val="231F20"/>
                </a:solidFill>
                <a:effectLst/>
                <a:latin typeface="Arial" panose="020B0604020202020204" pitchFamily="34" charset="0"/>
                <a:ea typeface="Trebuchet MS" panose="020B0603020202020204" pitchFamily="34" charset="0"/>
                <a:cs typeface="Trebuchet MS" panose="020B0603020202020204" pitchFamily="34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PT" altLang="pt-BR" sz="1100" b="0" i="0" u="none" strike="noStrike" cap="none" normalizeH="0" baseline="0" dirty="0">
                  <a:ln>
                    <a:noFill/>
                  </a:ln>
                  <a:solidFill>
                    <a:srgbClr val="231F20"/>
                  </a:solidFill>
                  <a:effectLst/>
                  <a:latin typeface="Arial" panose="020B0604020202020204" pitchFamily="34" charset="0"/>
                  <a:ea typeface="Trebuchet MS" panose="020B0603020202020204" pitchFamily="34" charset="0"/>
                  <a:cs typeface="Trebuchet MS" panose="020B0603020202020204" pitchFamily="34" charset="0"/>
                </a:rPr>
                <a:t>Produto</a:t>
              </a:r>
              <a:endParaRPr kumimoji="0" lang="pt-PT" altLang="pt-B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PT" altLang="pt-BR" sz="900" b="0" i="0" u="none" strike="noStrike" cap="none" normalizeH="0" baseline="0" dirty="0">
                  <a:ln>
                    <a:noFill/>
                  </a:ln>
                  <a:solidFill>
                    <a:srgbClr val="231F20"/>
                  </a:solidFill>
                  <a:effectLst/>
                  <a:latin typeface="Arial" panose="020B0604020202020204" pitchFamily="34" charset="0"/>
                  <a:ea typeface="Trebuchet MS" panose="020B0603020202020204" pitchFamily="34" charset="0"/>
                  <a:cs typeface="Trebuchet MS" panose="020B0603020202020204" pitchFamily="34" charset="0"/>
                </a:rPr>
                <a:t>Bens e serviços</a:t>
              </a:r>
              <a:endParaRPr kumimoji="0" lang="pt-PT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3" name="Text Box 6">
              <a:extLst>
                <a:ext uri="{FF2B5EF4-FFF2-40B4-BE49-F238E27FC236}">
                  <a16:creationId xmlns:a16="http://schemas.microsoft.com/office/drawing/2014/main" id="{63674B16-1FB0-4F4E-9892-6096BB4FC0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6" y="2469"/>
              <a:ext cx="983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pt-PT" altLang="pt-BR" sz="1100" dirty="0">
                  <a:solidFill>
                    <a:srgbClr val="FFFFFF"/>
                  </a:solidFill>
                  <a:latin typeface="Arial" panose="020B0604020202020204" pitchFamily="34" charset="0"/>
                </a:rPr>
                <a:t>Família </a:t>
              </a:r>
              <a:endParaRPr kumimoji="0" lang="pt-PT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" name="Text Box 5">
              <a:extLst>
                <a:ext uri="{FF2B5EF4-FFF2-40B4-BE49-F238E27FC236}">
                  <a16:creationId xmlns:a16="http://schemas.microsoft.com/office/drawing/2014/main" id="{AC9575DD-1D65-4800-A245-6B801774BF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10" y="2467"/>
              <a:ext cx="898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PT" altLang="pt-BR" sz="1100" b="0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Trebuchet MS" panose="020B0603020202020204" pitchFamily="34" charset="0"/>
                  <a:cs typeface="Trebuchet MS" panose="020B0603020202020204" pitchFamily="34" charset="0"/>
                </a:rPr>
                <a:t>Empresas</a:t>
              </a:r>
              <a:endParaRPr kumimoji="0" lang="pt-PT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" name="Text Box 4">
              <a:extLst>
                <a:ext uri="{FF2B5EF4-FFF2-40B4-BE49-F238E27FC236}">
                  <a16:creationId xmlns:a16="http://schemas.microsoft.com/office/drawing/2014/main" id="{9D9B9B67-BBF8-4C0D-9E75-A5852CB626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2" y="2855"/>
              <a:ext cx="4292" cy="27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43088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43088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43088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43088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43088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43088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43088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43088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43088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1843088" algn="l"/>
                </a:tabLst>
              </a:pPr>
              <a:r>
                <a:rPr kumimoji="0" lang="pt-PT" altLang="pt-BR" sz="1100" b="0" i="0" u="none" strike="noStrike" cap="none" normalizeH="0" baseline="0" dirty="0">
                  <a:ln>
                    <a:noFill/>
                  </a:ln>
                  <a:solidFill>
                    <a:srgbClr val="231F20"/>
                  </a:solidFill>
                  <a:effectLst/>
                  <a:latin typeface="Arial" panose="020B0604020202020204" pitchFamily="34" charset="0"/>
                  <a:ea typeface="Trebuchet MS" panose="020B0603020202020204" pitchFamily="34" charset="0"/>
                  <a:cs typeface="Trebuchet MS" panose="020B0603020202020204" pitchFamily="34" charset="0"/>
                </a:rPr>
                <a:t>Fatores de produção</a:t>
              </a:r>
              <a:endParaRPr kumimoji="0" lang="pt-PT" altLang="pt-B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1843088" algn="l"/>
                </a:tabLst>
              </a:pPr>
              <a:r>
                <a:rPr kumimoji="0" lang="pt-PT" altLang="pt-BR" sz="700" b="0" i="0" u="none" strike="noStrike" cap="none" normalizeH="0" baseline="0" dirty="0">
                  <a:ln>
                    <a:noFill/>
                  </a:ln>
                  <a:solidFill>
                    <a:srgbClr val="231F20"/>
                  </a:solidFill>
                  <a:effectLst/>
                  <a:latin typeface="Arial" panose="020B0604020202020204" pitchFamily="34" charset="0"/>
                  <a:ea typeface="Trebuchet MS" panose="020B0603020202020204" pitchFamily="34" charset="0"/>
                  <a:cs typeface="Trebuchet MS" panose="020B0603020202020204" pitchFamily="34" charset="0"/>
                </a:rPr>
                <a:t>(Capital, mão de obra, terra, capacidade empresarial)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1843088" algn="l"/>
                </a:tabLst>
              </a:pPr>
              <a:endParaRPr lang="pt-PT" altLang="pt-BR" sz="700" dirty="0">
                <a:solidFill>
                  <a:srgbClr val="231F20"/>
                </a:solidFill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1843088" algn="l"/>
                </a:tabLst>
              </a:pPr>
              <a:endParaRPr kumimoji="0" lang="pt-PT" altLang="pt-BR" sz="700" b="0" i="0" u="none" strike="noStrike" cap="none" normalizeH="0" baseline="0" dirty="0">
                <a:ln>
                  <a:noFill/>
                </a:ln>
                <a:solidFill>
                  <a:srgbClr val="231F20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1843088" algn="l"/>
                </a:tabLst>
              </a:pPr>
              <a:endParaRPr lang="pt-PT" altLang="pt-BR" sz="700" dirty="0">
                <a:solidFill>
                  <a:srgbClr val="231F20"/>
                </a:solidFill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1843088" algn="l"/>
                </a:tabLst>
              </a:pPr>
              <a:endParaRPr kumimoji="0" lang="pt-PT" altLang="pt-B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1843088" algn="l"/>
                </a:tabLst>
              </a:pPr>
              <a:r>
                <a:rPr kumimoji="0" lang="pt-PT" altLang="pt-BR" sz="1100" b="0" i="0" u="none" strike="noStrike" cap="none" normalizeH="0" baseline="0" dirty="0">
                  <a:ln>
                    <a:noFill/>
                  </a:ln>
                  <a:solidFill>
                    <a:srgbClr val="231F20"/>
                  </a:solidFill>
                  <a:effectLst/>
                  <a:latin typeface="Arial" panose="020B0604020202020204" pitchFamily="34" charset="0"/>
                  <a:ea typeface="Trebuchet MS" panose="020B0603020202020204" pitchFamily="34" charset="0"/>
                  <a:cs typeface="Trebuchet MS" panose="020B0603020202020204" pitchFamily="34" charset="0"/>
                </a:rPr>
                <a:t>Renda ($)</a:t>
              </a:r>
              <a:endParaRPr kumimoji="0" lang="pt-PT" altLang="pt-B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1843088" algn="l"/>
                </a:tabLst>
              </a:pPr>
              <a:r>
                <a:rPr kumimoji="0" lang="pt-PT" altLang="pt-BR" sz="700" b="0" i="0" u="none" strike="noStrike" cap="none" normalizeH="0" baseline="0" dirty="0">
                  <a:ln>
                    <a:noFill/>
                  </a:ln>
                  <a:solidFill>
                    <a:srgbClr val="231F20"/>
                  </a:solidFill>
                  <a:effectLst/>
                  <a:latin typeface="Arial" panose="020B0604020202020204" pitchFamily="34" charset="0"/>
                  <a:ea typeface="Trebuchet MS" panose="020B0603020202020204" pitchFamily="34" charset="0"/>
                  <a:cs typeface="Trebuchet MS" panose="020B0603020202020204" pitchFamily="34" charset="0"/>
                </a:rPr>
                <a:t>(Juro, salário, aluguel, lucro)</a:t>
              </a:r>
              <a:endParaRPr kumimoji="0" lang="pt-PT" altLang="pt-B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1843088" algn="l"/>
                </a:tabLst>
              </a:pPr>
              <a:r>
                <a:rPr kumimoji="0" lang="pt-PT" altLang="pt-BR" sz="900" b="0" i="0" u="none" strike="noStrike" cap="none" normalizeH="0" baseline="0" dirty="0">
                  <a:ln>
                    <a:noFill/>
                  </a:ln>
                  <a:solidFill>
                    <a:srgbClr val="231F20"/>
                  </a:solidFill>
                  <a:effectLst/>
                  <a:latin typeface="Arial" panose="020B0604020202020204" pitchFamily="34" charset="0"/>
                  <a:ea typeface="Trebuchet MS" panose="020B0603020202020204" pitchFamily="34" charset="0"/>
                  <a:cs typeface="Trebuchet MS" panose="020B0603020202020204" pitchFamily="34" charset="0"/>
                </a:rPr>
                <a:t>I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1843088" algn="l"/>
                </a:tabLst>
              </a:pPr>
              <a:endParaRPr lang="pt-PT" altLang="pt-BR" sz="900" dirty="0">
                <a:solidFill>
                  <a:srgbClr val="231F20"/>
                </a:solidFill>
                <a:ea typeface="Trebuchet MS" panose="020B0603020202020204" pitchFamily="34" charset="0"/>
                <a:cs typeface="Trebuchet MS" panose="020B0603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1843088" algn="l"/>
                </a:tabLst>
              </a:pPr>
              <a:endParaRPr kumimoji="0" lang="pt-PT" altLang="pt-BR" sz="900" b="0" i="0" u="none" strike="noStrike" cap="none" normalizeH="0" baseline="0" dirty="0">
                <a:ln>
                  <a:noFill/>
                </a:ln>
                <a:solidFill>
                  <a:srgbClr val="231F20"/>
                </a:solidFill>
                <a:effectLst/>
                <a:latin typeface="Arial" panose="020B0604020202020204" pitchFamily="34" charset="0"/>
                <a:ea typeface="Trebuchet MS" panose="020B0603020202020204" pitchFamily="34" charset="0"/>
                <a:cs typeface="Trebuchet MS" panose="020B0603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1843088" algn="l"/>
                </a:tabLst>
              </a:pPr>
              <a:endParaRPr lang="pt-PT" altLang="pt-BR" sz="900" dirty="0">
                <a:solidFill>
                  <a:srgbClr val="231F20"/>
                </a:solidFill>
                <a:ea typeface="Trebuchet MS" panose="020B0603020202020204" pitchFamily="34" charset="0"/>
                <a:cs typeface="Trebuchet MS" panose="020B0603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1843088" algn="l"/>
                </a:tabLst>
              </a:pPr>
              <a:r>
                <a:rPr kumimoji="0" lang="pt-PT" altLang="pt-BR" sz="900" b="0" i="0" u="none" strike="noStrike" cap="none" normalizeH="0" baseline="0" dirty="0">
                  <a:ln>
                    <a:noFill/>
                  </a:ln>
                  <a:solidFill>
                    <a:srgbClr val="231F20"/>
                  </a:solidFill>
                  <a:effectLst/>
                  <a:latin typeface="Arial" panose="020B0604020202020204" pitchFamily="34" charset="0"/>
                  <a:ea typeface="Trebuchet MS" panose="020B0603020202020204" pitchFamily="34" charset="0"/>
                  <a:cs typeface="Trebuchet MS" panose="020B0603020202020204" pitchFamily="34" charset="0"/>
                </a:rPr>
                <a:t>                 Impostos	                                 Impostos  </a:t>
              </a:r>
              <a:r>
                <a:rPr kumimoji="0" lang="pt-PT" altLang="pt-BR" sz="800" b="0" i="0" u="none" strike="noStrike" cap="none" normalizeH="0" baseline="0" dirty="0">
                  <a:ln>
                    <a:noFill/>
                  </a:ln>
                  <a:solidFill>
                    <a:srgbClr val="231F20"/>
                  </a:solidFill>
                  <a:effectLst/>
                  <a:latin typeface="Arial" panose="020B0604020202020204" pitchFamily="34" charset="0"/>
                  <a:ea typeface="Trebuchet MS" panose="020B0603020202020204" pitchFamily="34" charset="0"/>
                  <a:cs typeface="Trebuchet MS" panose="020B0603020202020204" pitchFamily="34" charset="0"/>
                </a:rPr>
                <a:t> I                           Impostos</a:t>
              </a:r>
              <a:endParaRPr kumimoji="0" lang="pt-PT" altLang="pt-B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1843088" algn="l"/>
                </a:tabLst>
              </a:pPr>
              <a:endParaRPr kumimoji="0" lang="pt-PT" altLang="pt-BR" sz="900" b="0" i="0" u="none" strike="noStrike" cap="none" normalizeH="0" baseline="0" dirty="0">
                <a:ln>
                  <a:noFill/>
                </a:ln>
                <a:solidFill>
                  <a:srgbClr val="231F20"/>
                </a:solidFill>
                <a:effectLst/>
                <a:latin typeface="Arial" panose="020B0604020202020204" pitchFamily="34" charset="0"/>
                <a:ea typeface="Trebuchet MS" panose="020B0603020202020204" pitchFamily="34" charset="0"/>
                <a:cs typeface="Trebuchet MS" panose="020B0603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1843088" algn="l"/>
                </a:tabLst>
              </a:pPr>
              <a:endParaRPr lang="pt-PT" altLang="pt-BR" sz="900" dirty="0">
                <a:solidFill>
                  <a:srgbClr val="231F20"/>
                </a:solidFill>
                <a:ea typeface="Trebuchet MS" panose="020B0603020202020204" pitchFamily="34" charset="0"/>
                <a:cs typeface="Trebuchet MS" panose="020B0603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1843088" algn="l"/>
                </a:tabLst>
              </a:pPr>
              <a:endParaRPr kumimoji="0" lang="pt-PT" altLang="pt-BR" sz="900" b="0" i="0" u="none" strike="noStrike" cap="none" normalizeH="0" baseline="0" dirty="0">
                <a:ln>
                  <a:noFill/>
                </a:ln>
                <a:solidFill>
                  <a:srgbClr val="231F20"/>
                </a:solidFill>
                <a:effectLst/>
                <a:latin typeface="Arial" panose="020B0604020202020204" pitchFamily="34" charset="0"/>
                <a:ea typeface="Trebuchet MS" panose="020B0603020202020204" pitchFamily="34" charset="0"/>
                <a:cs typeface="Trebuchet MS" panose="020B0603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1843088" algn="l"/>
                </a:tabLst>
              </a:pPr>
              <a:r>
                <a:rPr lang="pt-PT" altLang="pt-BR" sz="900" dirty="0">
                  <a:solidFill>
                    <a:srgbClr val="231F20"/>
                  </a:solidFill>
                  <a:ea typeface="Trebuchet MS" panose="020B0603020202020204" pitchFamily="34" charset="0"/>
                  <a:cs typeface="Trebuchet MS" panose="020B0603020202020204" pitchFamily="34" charset="0"/>
                </a:rPr>
                <a:t>                T</a:t>
              </a:r>
              <a:r>
                <a:rPr kumimoji="0" lang="pt-PT" altLang="pt-BR" sz="900" b="0" i="0" u="none" strike="noStrike" cap="none" normalizeH="0" baseline="0" dirty="0">
                  <a:ln>
                    <a:noFill/>
                  </a:ln>
                  <a:solidFill>
                    <a:srgbClr val="231F20"/>
                  </a:solidFill>
                  <a:effectLst/>
                  <a:latin typeface="Arial" panose="020B0604020202020204" pitchFamily="34" charset="0"/>
                  <a:ea typeface="Trebuchet MS" panose="020B0603020202020204" pitchFamily="34" charset="0"/>
                  <a:cs typeface="Trebuchet MS" panose="020B0603020202020204" pitchFamily="34" charset="0"/>
                </a:rPr>
                <a:t>ransferências	                                                                        Gastos do governo</a:t>
              </a:r>
              <a:endParaRPr kumimoji="0" lang="pt-PT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6" name="Text Box 3">
              <a:extLst>
                <a:ext uri="{FF2B5EF4-FFF2-40B4-BE49-F238E27FC236}">
                  <a16:creationId xmlns:a16="http://schemas.microsoft.com/office/drawing/2014/main" id="{F7314CC4-37B9-4DBA-9338-83F7B8E352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9" y="4512"/>
              <a:ext cx="1296" cy="666"/>
            </a:xfrm>
            <a:prstGeom prst="rect">
              <a:avLst/>
            </a:prstGeom>
            <a:solidFill>
              <a:srgbClr val="8F91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PT" altLang="pt-BR" sz="11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Trebuchet MS" panose="020B0603020202020204" pitchFamily="34" charset="0"/>
                  <a:cs typeface="Trebuchet MS" panose="020B0603020202020204" pitchFamily="34" charset="0"/>
                </a:rPr>
                <a:t>    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pt-PT" altLang="pt-BR" sz="1100" dirty="0">
                  <a:solidFill>
                    <a:srgbClr val="FFFFFF"/>
                  </a:solidFill>
                  <a:latin typeface="Arial" panose="020B0604020202020204" pitchFamily="34" charset="0"/>
                  <a:ea typeface="Trebuchet MS" panose="020B0603020202020204" pitchFamily="34" charset="0"/>
                  <a:cs typeface="Trebuchet MS" panose="020B0603020202020204" pitchFamily="34" charset="0"/>
                </a:rPr>
                <a:t>           </a:t>
              </a:r>
              <a:r>
                <a:rPr kumimoji="0" lang="pt-PT" altLang="pt-BR" sz="11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Trebuchet MS" panose="020B0603020202020204" pitchFamily="34" charset="0"/>
                  <a:cs typeface="Trebuchet MS" panose="020B0603020202020204" pitchFamily="34" charset="0"/>
                </a:rPr>
                <a:t>Governo</a:t>
              </a:r>
              <a:endParaRPr kumimoji="0" lang="pt-PT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7" name="Text Box 2">
              <a:extLst>
                <a:ext uri="{FF2B5EF4-FFF2-40B4-BE49-F238E27FC236}">
                  <a16:creationId xmlns:a16="http://schemas.microsoft.com/office/drawing/2014/main" id="{E7B2EABF-1A81-4F82-B318-820D05DFA5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05" y="226"/>
              <a:ext cx="1296" cy="666"/>
            </a:xfrm>
            <a:prstGeom prst="rect">
              <a:avLst/>
            </a:prstGeom>
            <a:solidFill>
              <a:srgbClr val="8F91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71438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PT" altLang="pt-BR" sz="11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Trebuchet MS" panose="020B0603020202020204" pitchFamily="34" charset="0"/>
                <a:cs typeface="Trebuchet MS" panose="020B0603020202020204" pitchFamily="34" charset="0"/>
              </a:endParaRPr>
            </a:p>
            <a:p>
              <a:pPr marL="0" marR="0" lvl="0" indent="71438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pt-PT" altLang="pt-BR" sz="1100" dirty="0">
                  <a:solidFill>
                    <a:srgbClr val="FFFFFF"/>
                  </a:solidFill>
                  <a:latin typeface="Arial" panose="020B0604020202020204" pitchFamily="34" charset="0"/>
                  <a:ea typeface="Trebuchet MS" panose="020B0603020202020204" pitchFamily="34" charset="0"/>
                  <a:cs typeface="Trebuchet MS" panose="020B0603020202020204" pitchFamily="34" charset="0"/>
                </a:rPr>
                <a:t>        </a:t>
              </a:r>
              <a:r>
                <a:rPr kumimoji="0" lang="pt-PT" altLang="pt-BR" sz="11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Trebuchet MS" panose="020B0603020202020204" pitchFamily="34" charset="0"/>
                  <a:cs typeface="Trebuchet MS" panose="020B0603020202020204" pitchFamily="34" charset="0"/>
                </a:rPr>
                <a:t>Setor externo</a:t>
              </a:r>
              <a:endParaRPr kumimoji="0" lang="pt-PT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28" name="Rectangle 45">
            <a:extLst>
              <a:ext uri="{FF2B5EF4-FFF2-40B4-BE49-F238E27FC236}">
                <a16:creationId xmlns:a16="http://schemas.microsoft.com/office/drawing/2014/main" id="{2651CC66-EAC8-4B82-A124-0ADB17552F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608" y="16288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257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257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257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257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257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257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257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257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257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257675" algn="l"/>
              </a:tabLst>
            </a:pPr>
            <a:endParaRPr kumimoji="0" lang="pt-PT" altLang="pt-BR" sz="900" b="0" i="0" u="none" strike="noStrike" cap="none" normalizeH="0" baseline="0" dirty="0">
              <a:ln>
                <a:noFill/>
              </a:ln>
              <a:solidFill>
                <a:srgbClr val="231F20"/>
              </a:solidFill>
              <a:effectLst/>
              <a:latin typeface="Arial" panose="020B0604020202020204" pitchFamily="34" charset="0"/>
              <a:ea typeface="Trebuchet MS" panose="020B0603020202020204" pitchFamily="34" charset="0"/>
              <a:cs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257675" algn="l"/>
              </a:tabLst>
            </a:pPr>
            <a:r>
              <a:rPr kumimoji="0" lang="pt-PT" altLang="pt-BR" sz="900" b="0" i="0" u="none" strike="noStrike" cap="none" normalizeH="0" baseline="0" dirty="0">
                <a:ln>
                  <a:noFill/>
                </a:ln>
                <a:solidFill>
                  <a:srgbClr val="231F20"/>
                </a:solidFill>
                <a:effectLst/>
                <a:latin typeface="Arial" panose="020B0604020202020204" pitchFamily="34" charset="0"/>
                <a:ea typeface="Trebuchet MS" panose="020B0603020202020204" pitchFamily="34" charset="0"/>
                <a:cs typeface="Trebuchet MS" panose="020B0603020202020204" pitchFamily="34" charset="0"/>
              </a:rPr>
              <a:t>Fatores e gastos	Exportação</a:t>
            </a:r>
            <a:endParaRPr kumimoji="0" lang="pt-PT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21518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971600" y="1481003"/>
            <a:ext cx="7560840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dirty="0"/>
              <a:t>VASCONCELLOS, M. A .S.; GARCIA, M. E. </a:t>
            </a:r>
            <a:r>
              <a:rPr lang="pt-BR" sz="2500" b="1" dirty="0"/>
              <a:t>Fundamentos de economia</a:t>
            </a:r>
            <a:r>
              <a:rPr lang="pt-BR" sz="2500" dirty="0"/>
              <a:t>. São Paulo: Saraiva, 2009.</a:t>
            </a:r>
          </a:p>
          <a:p>
            <a:endParaRPr lang="pt-BR" sz="2500" dirty="0"/>
          </a:p>
          <a:p>
            <a:r>
              <a:rPr lang="pt-BR" sz="2500" dirty="0"/>
              <a:t>PINHO, D. B.; VASCONCELOS, M. A. S. </a:t>
            </a:r>
            <a:r>
              <a:rPr lang="pt-BR" sz="2500" b="1" dirty="0"/>
              <a:t>Manual de introdução à economia</a:t>
            </a:r>
            <a:r>
              <a:rPr lang="pt-BR" sz="2500" dirty="0"/>
              <a:t>. São Paulo: Saraiva, 2008. 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3378499" y="260648"/>
            <a:ext cx="2307555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500" b="1" dirty="0"/>
              <a:t>Bibliografia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4F04A31C6CECB449A9A902C8461E650" ma:contentTypeVersion="4" ma:contentTypeDescription="Crie um novo documento." ma:contentTypeScope="" ma:versionID="5e441f3e4b1bb045a295fd72e4f8390b">
  <xsd:schema xmlns:xsd="http://www.w3.org/2001/XMLSchema" xmlns:xs="http://www.w3.org/2001/XMLSchema" xmlns:p="http://schemas.microsoft.com/office/2006/metadata/properties" xmlns:ns2="19196512-00ff-4c0d-b736-48b52b910ac8" targetNamespace="http://schemas.microsoft.com/office/2006/metadata/properties" ma:root="true" ma:fieldsID="bf6e1d04d2a5c8b059e6a8d144ea0b97" ns2:_="">
    <xsd:import namespace="19196512-00ff-4c0d-b736-48b52b910ac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196512-00ff-4c0d-b736-48b52b910a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3C5C850-1BF0-4948-A4C4-1DF1D361EC76}">
  <ds:schemaRefs>
    <ds:schemaRef ds:uri="19196512-00ff-4c0d-b736-48b52b910ac8"/>
    <ds:schemaRef ds:uri="http://purl.org/dc/terms/"/>
    <ds:schemaRef ds:uri="http://purl.org/dc/dcmitype/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5C80F0D6-097F-4BD5-87D3-A54751C963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9196512-00ff-4c0d-b736-48b52b910ac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C9A873F-8F62-4E15-A28E-9AC63CB4D4A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5625</TotalTime>
  <Words>2173</Words>
  <Application>Microsoft Office PowerPoint</Application>
  <PresentationFormat>Apresentação na tela (4:3)</PresentationFormat>
  <Paragraphs>371</Paragraphs>
  <Slides>38</Slides>
  <Notes>34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38</vt:i4>
      </vt:variant>
    </vt:vector>
  </HeadingPairs>
  <TitlesOfParts>
    <vt:vector size="47" baseType="lpstr">
      <vt:lpstr>Arial</vt:lpstr>
      <vt:lpstr>Arial Black</vt:lpstr>
      <vt:lpstr>Calibri</vt:lpstr>
      <vt:lpstr>Century Gothic</vt:lpstr>
      <vt:lpstr>Symbol</vt:lpstr>
      <vt:lpstr>Times New Roman</vt:lpstr>
      <vt:lpstr>Trebuchet MS</vt:lpstr>
      <vt:lpstr>Wingdings 3</vt:lpstr>
      <vt:lpstr>Tema do Office</vt:lpstr>
      <vt:lpstr>Introdução à Microeconomia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  estudo  da  Teoria  Econômica, divide-se  em duas grandes áreas:                Teoria                        Teoria     Microeconômica           Macroeconômica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Arthur</dc:creator>
  <cp:lastModifiedBy>Helio Rubens Oliveira das Neves</cp:lastModifiedBy>
  <cp:revision>228</cp:revision>
  <cp:lastPrinted>2019-08-12T20:45:02Z</cp:lastPrinted>
  <dcterms:created xsi:type="dcterms:W3CDTF">2018-07-17T19:24:25Z</dcterms:created>
  <dcterms:modified xsi:type="dcterms:W3CDTF">2026-03-15T22:56:45Z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0x01010034F04A31C6CECB449A9A902C8461E650</vt:lpwstr>
  </property>
</Properties>
</file>